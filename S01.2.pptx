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37"/>
  </p:notesMasterIdLst>
  <p:sldIdLst>
    <p:sldId id="256" r:id="rId2"/>
    <p:sldId id="461" r:id="rId3"/>
    <p:sldId id="257" r:id="rId4"/>
    <p:sldId id="394" r:id="rId5"/>
    <p:sldId id="405" r:id="rId6"/>
    <p:sldId id="430" r:id="rId7"/>
    <p:sldId id="432" r:id="rId8"/>
    <p:sldId id="431" r:id="rId9"/>
    <p:sldId id="274" r:id="rId10"/>
    <p:sldId id="258" r:id="rId11"/>
    <p:sldId id="261" r:id="rId12"/>
    <p:sldId id="433" r:id="rId13"/>
    <p:sldId id="263" r:id="rId14"/>
    <p:sldId id="434" r:id="rId15"/>
    <p:sldId id="435" r:id="rId16"/>
    <p:sldId id="436" r:id="rId17"/>
    <p:sldId id="437" r:id="rId18"/>
    <p:sldId id="438" r:id="rId19"/>
    <p:sldId id="262" r:id="rId20"/>
    <p:sldId id="439" r:id="rId21"/>
    <p:sldId id="440" r:id="rId22"/>
    <p:sldId id="441" r:id="rId23"/>
    <p:sldId id="273" r:id="rId24"/>
    <p:sldId id="443" r:id="rId25"/>
    <p:sldId id="444" r:id="rId26"/>
    <p:sldId id="442" r:id="rId27"/>
    <p:sldId id="270" r:id="rId28"/>
    <p:sldId id="272" r:id="rId29"/>
    <p:sldId id="462" r:id="rId30"/>
    <p:sldId id="460" r:id="rId31"/>
    <p:sldId id="459" r:id="rId32"/>
    <p:sldId id="268" r:id="rId33"/>
    <p:sldId id="330" r:id="rId34"/>
    <p:sldId id="332" r:id="rId35"/>
    <p:sldId id="269" r:id="rId36"/>
  </p:sldIdLst>
  <p:sldSz cx="18288000" cy="10287000"/>
  <p:notesSz cx="6858000" cy="9144000"/>
  <p:embeddedFontLst>
    <p:embeddedFont>
      <p:font typeface="Roboto" panose="02000000000000000000" pitchFamily="2" charset="0"/>
      <p:regular r:id="rId38"/>
      <p:bold r:id="rId39"/>
      <p:italic r:id="rId40"/>
      <p:boldItalic r:id="rId41"/>
    </p:embeddedFont>
    <p:embeddedFont>
      <p:font typeface="Roboto Slab" pitchFamily="2" charset="0"/>
      <p:regular r:id="rId42"/>
      <p:bold r:id="rId43"/>
    </p:embeddedFont>
    <p:embeddedFont>
      <p:font typeface="Roboto Slab Black" pitchFamily="2" charset="0"/>
      <p:bold r:id="rId44"/>
    </p:embeddedFont>
    <p:embeddedFont>
      <p:font typeface="Tiro Devanagari Marathi" panose="020B0604020202020204" charset="0"/>
      <p:regular r:id="rId45"/>
      <p: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660"/>
  </p:normalViewPr>
  <p:slideViewPr>
    <p:cSldViewPr snapToGrid="0">
      <p:cViewPr varScale="1">
        <p:scale>
          <a:sx n="70" d="100"/>
          <a:sy n="70" d="100"/>
        </p:scale>
        <p:origin x="978" y="84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" name="Google Shape;1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QUE BUSCO: credibilidad en 45 segundos. No es un CV.</a:t>
            </a:r>
          </a:p>
          <a:p>
            <a:r>
              <a:t>TIEMPO: 0:30 - 1:15. Cronometrar: aqui es donde todos se estiran.</a:t>
            </a:r>
          </a:p>
          <a:p>
            <a:r>
              <a:t>COMO LA CORRO: no leo las vinetas. "Nueve anos industrializando parabrisas, techos y vidrios laterales para marcas automotrices; el caso de hoy me paso a mi."</a:t>
            </a:r>
          </a:p>
          <a:p>
            <a:r>
              <a:t>SI ME PREGUNTAN POR DOCENCIA: UTP desde marzo 2025, top 5% de desempeno en los dos ciclos del ano.</a:t>
            </a:r>
          </a:p>
        </p:txBody>
      </p:sp>
      <p:sp>
        <p:nvSpPr>
          <p:cNvPr id="19" name="Google Shape;1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5DE06893-AB17-8883-AE7C-622F8007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>
            <a:extLst>
              <a:ext uri="{FF2B5EF4-FFF2-40B4-BE49-F238E27FC236}">
                <a16:creationId xmlns:a16="http://schemas.microsoft.com/office/drawing/2014/main" id="{646B851C-1683-6D75-11C6-9384469DA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2:notes">
            <a:extLst>
              <a:ext uri="{FF2B5EF4-FFF2-40B4-BE49-F238E27FC236}">
                <a16:creationId xmlns:a16="http://schemas.microsoft.com/office/drawing/2014/main" id="{BD0DF087-54ED-CD11-3586-16F2F21E6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9733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IDEA CLAVE: no existe una receta magica. El WoW se arma como un rompecabezas segun el contexto.</a:t>
            </a:r>
          </a:p>
          <a:p>
            <a:r>
              <a:t>1) Meta del proceso: 'Coordinar al equipo'.</a:t>
            </a:r>
          </a:p>
          <a:p>
            <a:r>
              <a:t>2) De la meta salen puntos de decision (preguntas que el equipo debe responder).</a:t>
            </a:r>
          </a:p>
          <a:p>
            <a:r>
              <a:t>3) Lista ORDENADA (flecha hacia arriba): hay practicas mejores que otras. Base = reportes por correo; medio = reuniones semanales; cima = daily stand-ups. Lo que esta en negrita es el salvavidas: si no saben que elegir, empiecen ahi.</a:t>
            </a:r>
          </a:p>
          <a:p>
            <a:r>
              <a:t>4) Lista DESORDENADA: '¿Que software usamos para chatear?' Teams, Slack o Google Chat dan igual; se elige por lo que la empresa ya tenga licenciado.</a:t>
            </a:r>
          </a:p>
          <a:p>
            <a:r>
              <a:t>CIERRE: este mapa les permite armar su propia estrategia (su Way of Working) segun lo que su entorno necesite.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>
          <a:extLst>
            <a:ext uri="{FF2B5EF4-FFF2-40B4-BE49-F238E27FC236}">
              <a16:creationId xmlns:a16="http://schemas.microsoft.com/office/drawing/2014/main" id="{5D39FE05-3688-1797-6488-5D9DED8F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>
            <a:extLst>
              <a:ext uri="{FF2B5EF4-FFF2-40B4-BE49-F238E27FC236}">
                <a16:creationId xmlns:a16="http://schemas.microsoft.com/office/drawing/2014/main" id="{605C09A0-6CD9-77E9-A76D-7C06884A7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>
            <a:extLst>
              <a:ext uri="{FF2B5EF4-FFF2-40B4-BE49-F238E27FC236}">
                <a16:creationId xmlns:a16="http://schemas.microsoft.com/office/drawing/2014/main" id="{9FA79776-07AF-7154-EF23-1952E218EA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546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9" name="Google Shape;4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CUSTOM_23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 title="PPT_Mesa de trabajo 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24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" title="PPT-02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8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">
  <p:cSld name="CUSTOM_25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" title="PPT_Mesa de trabaj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4">
  <p:cSld name="CUSTOM_26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" title="PPT_Mesa de trabajo 4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5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810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8266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/>
        </p:nvSpPr>
        <p:spPr>
          <a:xfrm>
            <a:off x="1299075" y="3536775"/>
            <a:ext cx="7109400" cy="26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s-419" sz="650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Proyecto Preprofesional</a:t>
            </a:r>
            <a:endParaRPr sz="650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19" name="Google Shape;19;p6"/>
          <p:cNvSpPr txBox="1"/>
          <p:nvPr/>
        </p:nvSpPr>
        <p:spPr>
          <a:xfrm>
            <a:off x="1298975" y="7380475"/>
            <a:ext cx="7109400" cy="2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419" sz="2400" dirty="0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Ing. Daniel Pantoja Diaz</a:t>
            </a:r>
            <a:endParaRPr sz="2400" strike="noStrike" cap="none" dirty="0">
              <a:solidFill>
                <a:srgbClr val="FFFFFF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cxnSp>
        <p:nvCxnSpPr>
          <p:cNvPr id="20" name="Google Shape;20;p6"/>
          <p:cNvCxnSpPr/>
          <p:nvPr/>
        </p:nvCxnSpPr>
        <p:spPr>
          <a:xfrm rot="10800000">
            <a:off x="1299225" y="7110900"/>
            <a:ext cx="3296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diamond" w="sm" len="sm"/>
            <a:tailEnd type="diamond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165860" y="685800"/>
            <a:ext cx="1014984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11111"/>
              </a:buClr>
              <a:buSzPts val="3000"/>
            </a:pPr>
            <a:r>
              <a:rPr lang="es-PE" sz="4500" b="1">
                <a:solidFill>
                  <a:srgbClr val="111111"/>
                </a:solidFill>
              </a:rPr>
              <a:t>Quién les habla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1165860" y="2743200"/>
            <a:ext cx="1097280" cy="1097280"/>
          </a:xfrm>
          <a:prstGeom prst="ellipse">
            <a:avLst/>
          </a:prstGeom>
          <a:solidFill>
            <a:srgbClr val="F2F9FD"/>
          </a:solidFill>
          <a:ln w="1905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1165860" y="274320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086B3"/>
              </a:buClr>
              <a:buSzPts val="1800"/>
            </a:pPr>
            <a:r>
              <a:rPr lang="es-PE" sz="2700" b="1">
                <a:solidFill>
                  <a:srgbClr val="0086B3"/>
                </a:solidFill>
              </a:rPr>
              <a:t>9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674620" y="2606040"/>
            <a:ext cx="885163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37500"/>
              </a:lnSpc>
              <a:buClr>
                <a:srgbClr val="111111"/>
              </a:buClr>
              <a:buSzPts val="1600"/>
            </a:pPr>
            <a:r>
              <a:rPr lang="es-PE" sz="2400" dirty="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años en AGP Group industrializando productos nuevos —parabrisas, techos panorámicos y vidrios laterales— para marcas automotrices como Tesla, Rivian, Porsche en más de 3 continentes.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165860" y="4526280"/>
            <a:ext cx="1097280" cy="1097280"/>
          </a:xfrm>
          <a:prstGeom prst="ellipse">
            <a:avLst/>
          </a:prstGeom>
          <a:solidFill>
            <a:srgbClr val="F2F9FD"/>
          </a:solidFill>
          <a:ln w="1905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165860" y="452628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086B3"/>
              </a:buClr>
              <a:buSzPts val="1300"/>
            </a:pPr>
            <a:r>
              <a:rPr lang="es-PE" sz="1950" b="1">
                <a:solidFill>
                  <a:srgbClr val="0086B3"/>
                </a:solidFill>
              </a:rPr>
              <a:t>Hoy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2674620" y="4389120"/>
            <a:ext cx="855084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37500"/>
              </a:lnSpc>
              <a:buClr>
                <a:srgbClr val="111111"/>
              </a:buClr>
              <a:buSzPts val="1600"/>
            </a:pPr>
            <a:r>
              <a:rPr lang="es-PE" sz="2400" dirty="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 años de experiencia como Jefe de Proyectos de Transformación Digital en Grupo </a:t>
            </a:r>
            <a:r>
              <a:rPr lang="es-PE" sz="2400" dirty="0" err="1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Euromotors</a:t>
            </a:r>
            <a:r>
              <a:rPr lang="es-PE" sz="2400" dirty="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: PMO, ERP/DMS y adopción de IA.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65860" y="6309360"/>
            <a:ext cx="1097280" cy="1097280"/>
          </a:xfrm>
          <a:prstGeom prst="ellipse">
            <a:avLst/>
          </a:prstGeom>
          <a:solidFill>
            <a:srgbClr val="F2F9FD"/>
          </a:solidFill>
          <a:ln w="1905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165860" y="630936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086B3"/>
              </a:buClr>
              <a:buSzPts val="1800"/>
            </a:pPr>
            <a:r>
              <a:rPr lang="es-PE" sz="2700" b="1">
                <a:solidFill>
                  <a:srgbClr val="0086B3"/>
                </a:solidFill>
              </a:rPr>
              <a:t>+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674620" y="6172200"/>
            <a:ext cx="855084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37500"/>
              </a:lnSpc>
              <a:buClr>
                <a:srgbClr val="111111"/>
              </a:buClr>
              <a:buSzPts val="1600"/>
            </a:pPr>
            <a:r>
              <a:rPr lang="es-PE" sz="2400" dirty="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Docente de Ingeniería Mecatrónica en UTP y UTEC. Ing. Mecatrónico (UNI, primer puesto), Magíster (PUCP), PMP y Scrum Master.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165860" y="8161020"/>
            <a:ext cx="14264640" cy="1303020"/>
          </a:xfrm>
          <a:prstGeom prst="roundRect">
            <a:avLst>
              <a:gd name="adj" fmla="val 8421"/>
            </a:avLst>
          </a:prstGeom>
          <a:solidFill>
            <a:srgbClr val="F2F9FD"/>
          </a:solidFill>
          <a:ln w="12700" cap="flat" cmpd="sng">
            <a:solidFill>
              <a:srgbClr val="DCEE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645920" y="8161020"/>
            <a:ext cx="13441680" cy="130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86B3"/>
              </a:buClr>
              <a:buSzPts val="1800"/>
            </a:pPr>
            <a:r>
              <a:rPr lang="es-PE" sz="2700" b="1" i="1">
                <a:solidFill>
                  <a:srgbClr val="0086B3"/>
                </a:solidFill>
                <a:latin typeface="Calibri"/>
                <a:ea typeface="Calibri"/>
                <a:cs typeface="Calibri"/>
                <a:sym typeface="Calibri"/>
              </a:rPr>
              <a:t>Hoy no les traigo teoría: les traigo un caso que viví, con nombre y con números.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93957" y="1615239"/>
            <a:ext cx="5928561" cy="5928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/>
        </p:nvSpPr>
        <p:spPr>
          <a:xfrm>
            <a:off x="1466850" y="2478338"/>
            <a:ext cx="1535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419" sz="5000" u="none" strike="noStrike" cap="none">
                <a:latin typeface="Roboto Slab Black"/>
                <a:ea typeface="Roboto Slab Black"/>
                <a:cs typeface="Roboto Slab Black"/>
                <a:sym typeface="Roboto Slab Black"/>
              </a:rPr>
              <a:t>Objetivo de sesión aquí</a:t>
            </a:r>
            <a:endParaRPr sz="5000" u="none" strike="noStrike" cap="none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5641663" y="4308821"/>
            <a:ext cx="7004700" cy="3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800" i="0" u="none" strike="noStrike" cap="none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Al finalizar la sesión, el estudiante será capaz de explicar los fundamentos estratégicos de la dirección de proyectos, diferenciando el sistema de entrega de valor, los enfoques predictivo, ágil e híbrido (WoW), y su relación con la alineación estratégica del proyecto para identificar cómo estas decisiones contribuyen a la generación de valor en la organización.</a:t>
            </a:r>
            <a:endParaRPr sz="18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" name="Google Shape;27;p7"/>
          <p:cNvSpPr/>
          <p:nvPr/>
        </p:nvSpPr>
        <p:spPr>
          <a:xfrm>
            <a:off x="5116188" y="4044350"/>
            <a:ext cx="326537" cy="3764310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Google Shape;28;p7"/>
          <p:cNvSpPr/>
          <p:nvPr/>
        </p:nvSpPr>
        <p:spPr>
          <a:xfrm rot="10800000">
            <a:off x="12845276" y="3972965"/>
            <a:ext cx="326537" cy="3764310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elele.es - Un saludo a (casi) todos los jefes de proyecto que... - Tu web  de humor, memes, gifs y vídeos">
            <a:extLst>
              <a:ext uri="{FF2B5EF4-FFF2-40B4-BE49-F238E27FC236}">
                <a16:creationId xmlns:a16="http://schemas.microsoft.com/office/drawing/2014/main" id="{C4291A8B-4A90-E511-FF35-667271F96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577" y="678167"/>
            <a:ext cx="10461084" cy="893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sí es el mundo de los proyectos... [Humor]">
            <a:extLst>
              <a:ext uri="{FF2B5EF4-FFF2-40B4-BE49-F238E27FC236}">
                <a16:creationId xmlns:a16="http://schemas.microsoft.com/office/drawing/2014/main" id="{9F4149D1-70CB-35C9-86FD-337511323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991" y="551203"/>
            <a:ext cx="11689222" cy="876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541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PMBOK Guide | Project Management Institute">
            <a:extLst>
              <a:ext uri="{FF2B5EF4-FFF2-40B4-BE49-F238E27FC236}">
                <a16:creationId xmlns:a16="http://schemas.microsoft.com/office/drawing/2014/main" id="{9226A124-0353-2A20-D7EB-F8AEB8BD6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002" y="0"/>
            <a:ext cx="8229600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781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hoose your WoW: A Disciplined Agile Delivery Handbook for Optimizing Your Way of Working">
            <a:extLst>
              <a:ext uri="{FF2B5EF4-FFF2-40B4-BE49-F238E27FC236}">
                <a16:creationId xmlns:a16="http://schemas.microsoft.com/office/drawing/2014/main" id="{40ADD89C-8A96-C20F-4811-1909E3F40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978" y="1706221"/>
            <a:ext cx="5859853" cy="7596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731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C22D915-5AFD-3010-273C-7361C1875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83" y="2445839"/>
            <a:ext cx="14031433" cy="674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854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2ABC8A64-3865-8965-D45F-E3F598D8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>
            <a:extLst>
              <a:ext uri="{FF2B5EF4-FFF2-40B4-BE49-F238E27FC236}">
                <a16:creationId xmlns:a16="http://schemas.microsoft.com/office/drawing/2014/main" id="{8C1D15CF-3326-4BE8-B1E9-FFEAADA68C7E}"/>
              </a:ext>
            </a:extLst>
          </p:cNvPr>
          <p:cNvSpPr txBox="1"/>
          <p:nvPr/>
        </p:nvSpPr>
        <p:spPr>
          <a:xfrm>
            <a:off x="3889237" y="4026275"/>
            <a:ext cx="10509600" cy="14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s-ES" sz="550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Fundamentos Estratégicos y Generación de Valor</a:t>
            </a:r>
            <a:endParaRPr sz="550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220" name="Google Shape;220;p14">
            <a:extLst>
              <a:ext uri="{FF2B5EF4-FFF2-40B4-BE49-F238E27FC236}">
                <a16:creationId xmlns:a16="http://schemas.microsoft.com/office/drawing/2014/main" id="{63B71B41-B6FB-CF94-FABE-32E3E695E49B}"/>
              </a:ext>
            </a:extLst>
          </p:cNvPr>
          <p:cNvSpPr/>
          <p:nvPr/>
        </p:nvSpPr>
        <p:spPr>
          <a:xfrm>
            <a:off x="3889075" y="2995122"/>
            <a:ext cx="336724" cy="4296761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221" name="Google Shape;221;p14">
            <a:extLst>
              <a:ext uri="{FF2B5EF4-FFF2-40B4-BE49-F238E27FC236}">
                <a16:creationId xmlns:a16="http://schemas.microsoft.com/office/drawing/2014/main" id="{F128016B-BA94-41F7-7D53-37380131026A}"/>
              </a:ext>
            </a:extLst>
          </p:cNvPr>
          <p:cNvSpPr/>
          <p:nvPr/>
        </p:nvSpPr>
        <p:spPr>
          <a:xfrm rot="10800000">
            <a:off x="14062201" y="2995122"/>
            <a:ext cx="336724" cy="4296761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00872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/>
        </p:nvSpPr>
        <p:spPr>
          <a:xfrm>
            <a:off x="5443713" y="4193535"/>
            <a:ext cx="1075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s-419" sz="4600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0</a:t>
            </a:r>
            <a:r>
              <a:rPr lang="es-419" sz="4600" i="0" u="none" strike="noStrike" cap="none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1.</a:t>
            </a:r>
            <a:endParaRPr sz="4600" i="1" u="none" strike="noStrike" cap="none">
              <a:solidFill>
                <a:srgbClr val="FFFFFF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5013943" y="4813193"/>
            <a:ext cx="1935300" cy="25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8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Sistema de entrega de valor y principios de dirección de proyectos</a:t>
            </a:r>
            <a:endParaRPr sz="18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5" name="Google Shape;35;p8"/>
          <p:cNvSpPr/>
          <p:nvPr/>
        </p:nvSpPr>
        <p:spPr>
          <a:xfrm>
            <a:off x="4683622" y="4416677"/>
            <a:ext cx="284137" cy="2941773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36" name="Google Shape;36;p8"/>
          <p:cNvSpPr/>
          <p:nvPr/>
        </p:nvSpPr>
        <p:spPr>
          <a:xfrm rot="10800000">
            <a:off x="6995460" y="4416642"/>
            <a:ext cx="284137" cy="2941773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Google Shape;37;p8"/>
          <p:cNvSpPr txBox="1"/>
          <p:nvPr/>
        </p:nvSpPr>
        <p:spPr>
          <a:xfrm>
            <a:off x="1466850" y="2886338"/>
            <a:ext cx="1535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419" sz="5000" dirty="0">
                <a:latin typeface="Roboto Slab Black"/>
                <a:ea typeface="Roboto Slab Black"/>
                <a:cs typeface="Roboto Slab Black"/>
                <a:sym typeface="Roboto Slab Black"/>
              </a:rPr>
              <a:t>Contenido</a:t>
            </a:r>
            <a:r>
              <a:rPr lang="es-419" sz="500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 </a:t>
            </a:r>
            <a:r>
              <a:rPr lang="es-419" sz="5000" dirty="0">
                <a:latin typeface="Roboto Slab Black"/>
                <a:ea typeface="Roboto Slab Black"/>
                <a:cs typeface="Roboto Slab Black"/>
                <a:sym typeface="Roboto Slab Black"/>
              </a:rPr>
              <a:t>de sesión </a:t>
            </a:r>
            <a:r>
              <a:rPr lang="es-419" sz="500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aquí</a:t>
            </a:r>
            <a:endParaRPr sz="500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9127638" y="4193535"/>
            <a:ext cx="1075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s-419" sz="4600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02</a:t>
            </a:r>
            <a:r>
              <a:rPr lang="es-419" sz="4600" i="0" u="none" strike="noStrike" cap="none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.</a:t>
            </a:r>
            <a:endParaRPr sz="4600" i="1" u="none" strike="noStrike" cap="none">
              <a:solidFill>
                <a:srgbClr val="FFFFFF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39" name="Google Shape;39;p8"/>
          <p:cNvSpPr txBox="1"/>
          <p:nvPr/>
        </p:nvSpPr>
        <p:spPr>
          <a:xfrm>
            <a:off x="8697868" y="4813193"/>
            <a:ext cx="1935300" cy="25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8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Enfoques </a:t>
            </a:r>
            <a:r>
              <a:rPr lang="pt-BR" sz="1800" dirty="0" err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predictivo</a:t>
            </a:r>
            <a:r>
              <a:rPr lang="pt-BR" sz="18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, ágil e híbrido (</a:t>
            </a:r>
            <a:r>
              <a:rPr lang="pt-BR" sz="1800" dirty="0" err="1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WoW</a:t>
            </a:r>
            <a:r>
              <a:rPr lang="pt-BR" sz="18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)</a:t>
            </a:r>
            <a:endParaRPr sz="18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8367547" y="4416677"/>
            <a:ext cx="284137" cy="2941773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Google Shape;41;p8"/>
          <p:cNvSpPr/>
          <p:nvPr/>
        </p:nvSpPr>
        <p:spPr>
          <a:xfrm rot="10800000">
            <a:off x="10679385" y="4416642"/>
            <a:ext cx="284137" cy="2941773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42" name="Google Shape;42;p8"/>
          <p:cNvSpPr txBox="1"/>
          <p:nvPr/>
        </p:nvSpPr>
        <p:spPr>
          <a:xfrm>
            <a:off x="12811488" y="4193535"/>
            <a:ext cx="1075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s-419" sz="4600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03</a:t>
            </a:r>
            <a:r>
              <a:rPr lang="es-419" sz="4600" i="0" u="none" strike="noStrike" cap="none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.</a:t>
            </a:r>
            <a:endParaRPr sz="4600" i="1" u="none" strike="noStrike" cap="none">
              <a:solidFill>
                <a:srgbClr val="FFFFFF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43" name="Google Shape;43;p8"/>
          <p:cNvSpPr txBox="1"/>
          <p:nvPr/>
        </p:nvSpPr>
        <p:spPr>
          <a:xfrm>
            <a:off x="12381718" y="4813193"/>
            <a:ext cx="1935300" cy="25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419" sz="18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Alineación estratégica del proyecto</a:t>
            </a:r>
            <a:endParaRPr sz="18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4" name="Google Shape;44;p8"/>
          <p:cNvSpPr/>
          <p:nvPr/>
        </p:nvSpPr>
        <p:spPr>
          <a:xfrm>
            <a:off x="12051397" y="4416677"/>
            <a:ext cx="284137" cy="2941773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45" name="Google Shape;45;p8"/>
          <p:cNvSpPr/>
          <p:nvPr/>
        </p:nvSpPr>
        <p:spPr>
          <a:xfrm rot="10800000">
            <a:off x="14363235" y="4416642"/>
            <a:ext cx="284137" cy="2941773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/>
        </p:nvSpPr>
        <p:spPr>
          <a:xfrm>
            <a:off x="1365188" y="4187552"/>
            <a:ext cx="4574700" cy="19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s-419" sz="20000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01</a:t>
            </a:r>
            <a:r>
              <a:rPr lang="es-419" sz="20000" i="0" strike="noStrike" cap="none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.</a:t>
            </a:r>
            <a:endParaRPr sz="20000" i="1" strike="noStrike" cap="none">
              <a:solidFill>
                <a:srgbClr val="FFFFFF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grpSp>
        <p:nvGrpSpPr>
          <p:cNvPr id="91" name="Google Shape;91;p11"/>
          <p:cNvGrpSpPr/>
          <p:nvPr/>
        </p:nvGrpSpPr>
        <p:grpSpPr>
          <a:xfrm>
            <a:off x="6709134" y="4536157"/>
            <a:ext cx="872983" cy="1214691"/>
            <a:chOff x="910723" y="1508212"/>
            <a:chExt cx="251660" cy="350166"/>
          </a:xfrm>
        </p:grpSpPr>
        <p:sp>
          <p:nvSpPr>
            <p:cNvPr id="92" name="Google Shape;92;p11"/>
            <p:cNvSpPr/>
            <p:nvPr/>
          </p:nvSpPr>
          <p:spPr>
            <a:xfrm>
              <a:off x="910723" y="1508212"/>
              <a:ext cx="251660" cy="350166"/>
            </a:xfrm>
            <a:custGeom>
              <a:avLst/>
              <a:gdLst/>
              <a:ahLst/>
              <a:cxnLst/>
              <a:rect l="l" t="t" r="r" b="b"/>
              <a:pathLst>
                <a:path w="7907" h="11002" extrusionOk="0">
                  <a:moveTo>
                    <a:pt x="3942" y="334"/>
                  </a:moveTo>
                  <a:cubicBezTo>
                    <a:pt x="4132" y="334"/>
                    <a:pt x="4299" y="441"/>
                    <a:pt x="4394" y="608"/>
                  </a:cubicBezTo>
                  <a:cubicBezTo>
                    <a:pt x="4418" y="644"/>
                    <a:pt x="4466" y="679"/>
                    <a:pt x="4525" y="679"/>
                  </a:cubicBezTo>
                  <a:lnTo>
                    <a:pt x="5132" y="679"/>
                  </a:lnTo>
                  <a:cubicBezTo>
                    <a:pt x="5240" y="679"/>
                    <a:pt x="5311" y="763"/>
                    <a:pt x="5311" y="858"/>
                  </a:cubicBezTo>
                  <a:lnTo>
                    <a:pt x="5311" y="1382"/>
                  </a:lnTo>
                  <a:lnTo>
                    <a:pt x="2573" y="1382"/>
                  </a:lnTo>
                  <a:lnTo>
                    <a:pt x="2573" y="858"/>
                  </a:lnTo>
                  <a:cubicBezTo>
                    <a:pt x="2573" y="751"/>
                    <a:pt x="2668" y="679"/>
                    <a:pt x="2751" y="679"/>
                  </a:cubicBezTo>
                  <a:lnTo>
                    <a:pt x="3358" y="679"/>
                  </a:lnTo>
                  <a:cubicBezTo>
                    <a:pt x="3418" y="679"/>
                    <a:pt x="3466" y="644"/>
                    <a:pt x="3501" y="608"/>
                  </a:cubicBezTo>
                  <a:cubicBezTo>
                    <a:pt x="3585" y="441"/>
                    <a:pt x="3763" y="334"/>
                    <a:pt x="3942" y="334"/>
                  </a:cubicBezTo>
                  <a:close/>
                  <a:moveTo>
                    <a:pt x="7240" y="1013"/>
                  </a:moveTo>
                  <a:cubicBezTo>
                    <a:pt x="7442" y="1013"/>
                    <a:pt x="7609" y="1179"/>
                    <a:pt x="7609" y="1370"/>
                  </a:cubicBezTo>
                  <a:lnTo>
                    <a:pt x="7609" y="10323"/>
                  </a:lnTo>
                  <a:lnTo>
                    <a:pt x="7585" y="10323"/>
                  </a:lnTo>
                  <a:cubicBezTo>
                    <a:pt x="7585" y="10514"/>
                    <a:pt x="7430" y="10681"/>
                    <a:pt x="7228" y="10681"/>
                  </a:cubicBezTo>
                  <a:lnTo>
                    <a:pt x="691" y="10681"/>
                  </a:lnTo>
                  <a:cubicBezTo>
                    <a:pt x="501" y="10681"/>
                    <a:pt x="334" y="10514"/>
                    <a:pt x="334" y="10323"/>
                  </a:cubicBezTo>
                  <a:lnTo>
                    <a:pt x="334" y="1370"/>
                  </a:lnTo>
                  <a:cubicBezTo>
                    <a:pt x="334" y="1179"/>
                    <a:pt x="501" y="1013"/>
                    <a:pt x="691" y="1013"/>
                  </a:cubicBezTo>
                  <a:lnTo>
                    <a:pt x="2263" y="1013"/>
                  </a:lnTo>
                  <a:lnTo>
                    <a:pt x="2263" y="1537"/>
                  </a:lnTo>
                  <a:cubicBezTo>
                    <a:pt x="2263" y="1632"/>
                    <a:pt x="2335" y="1703"/>
                    <a:pt x="2418" y="1703"/>
                  </a:cubicBezTo>
                  <a:lnTo>
                    <a:pt x="5525" y="1703"/>
                  </a:lnTo>
                  <a:cubicBezTo>
                    <a:pt x="5609" y="1703"/>
                    <a:pt x="5680" y="1632"/>
                    <a:pt x="5680" y="1537"/>
                  </a:cubicBezTo>
                  <a:lnTo>
                    <a:pt x="5680" y="1013"/>
                  </a:lnTo>
                  <a:close/>
                  <a:moveTo>
                    <a:pt x="3954" y="1"/>
                  </a:moveTo>
                  <a:cubicBezTo>
                    <a:pt x="3692" y="1"/>
                    <a:pt x="3442" y="144"/>
                    <a:pt x="3275" y="346"/>
                  </a:cubicBezTo>
                  <a:lnTo>
                    <a:pt x="2751" y="346"/>
                  </a:lnTo>
                  <a:cubicBezTo>
                    <a:pt x="2525" y="346"/>
                    <a:pt x="2335" y="501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9"/>
                    <a:pt x="1" y="1382"/>
                  </a:cubicBezTo>
                  <a:lnTo>
                    <a:pt x="1" y="10323"/>
                  </a:lnTo>
                  <a:cubicBezTo>
                    <a:pt x="1" y="10692"/>
                    <a:pt x="299" y="11002"/>
                    <a:pt x="680" y="11002"/>
                  </a:cubicBezTo>
                  <a:lnTo>
                    <a:pt x="7216" y="11002"/>
                  </a:lnTo>
                  <a:cubicBezTo>
                    <a:pt x="7585" y="11002"/>
                    <a:pt x="7907" y="10704"/>
                    <a:pt x="7907" y="10323"/>
                  </a:cubicBezTo>
                  <a:lnTo>
                    <a:pt x="7907" y="1382"/>
                  </a:lnTo>
                  <a:cubicBezTo>
                    <a:pt x="7907" y="989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501"/>
                    <a:pt x="5383" y="346"/>
                    <a:pt x="5168" y="346"/>
                  </a:cubicBezTo>
                  <a:lnTo>
                    <a:pt x="4644" y="346"/>
                  </a:lnTo>
                  <a:cubicBezTo>
                    <a:pt x="4478" y="144"/>
                    <a:pt x="4228" y="1"/>
                    <a:pt x="39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1031604" y="1530205"/>
              <a:ext cx="10280" cy="10248"/>
            </a:xfrm>
            <a:custGeom>
              <a:avLst/>
              <a:gdLst/>
              <a:ahLst/>
              <a:cxnLst/>
              <a:rect l="l" t="t" r="r" b="b"/>
              <a:pathLst>
                <a:path w="32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cubicBezTo>
                    <a:pt x="251" y="322"/>
                    <a:pt x="322" y="250"/>
                    <a:pt x="322" y="167"/>
                  </a:cubicBez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932334" y="1551784"/>
              <a:ext cx="208088" cy="273653"/>
            </a:xfrm>
            <a:custGeom>
              <a:avLst/>
              <a:gdLst/>
              <a:ahLst/>
              <a:cxnLst/>
              <a:rect l="l" t="t" r="r" b="b"/>
              <a:pathLst>
                <a:path w="6538" h="8598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8430"/>
                  </a:lnTo>
                  <a:cubicBezTo>
                    <a:pt x="1" y="8526"/>
                    <a:pt x="72" y="8597"/>
                    <a:pt x="167" y="8597"/>
                  </a:cubicBezTo>
                  <a:lnTo>
                    <a:pt x="6358" y="8597"/>
                  </a:lnTo>
                  <a:cubicBezTo>
                    <a:pt x="6442" y="8597"/>
                    <a:pt x="6525" y="8526"/>
                    <a:pt x="6525" y="8430"/>
                  </a:cubicBezTo>
                  <a:lnTo>
                    <a:pt x="6525" y="168"/>
                  </a:lnTo>
                  <a:cubicBezTo>
                    <a:pt x="6537" y="84"/>
                    <a:pt x="6466" y="13"/>
                    <a:pt x="6370" y="13"/>
                  </a:cubicBezTo>
                  <a:lnTo>
                    <a:pt x="5513" y="13"/>
                  </a:lnTo>
                  <a:cubicBezTo>
                    <a:pt x="5418" y="13"/>
                    <a:pt x="5346" y="84"/>
                    <a:pt x="5346" y="168"/>
                  </a:cubicBezTo>
                  <a:cubicBezTo>
                    <a:pt x="5346" y="263"/>
                    <a:pt x="5418" y="334"/>
                    <a:pt x="5513" y="334"/>
                  </a:cubicBezTo>
                  <a:lnTo>
                    <a:pt x="6204" y="334"/>
                  </a:lnTo>
                  <a:lnTo>
                    <a:pt x="6204" y="8264"/>
                  </a:lnTo>
                  <a:lnTo>
                    <a:pt x="334" y="8264"/>
                  </a:lnTo>
                  <a:lnTo>
                    <a:pt x="334" y="334"/>
                  </a:lnTo>
                  <a:lnTo>
                    <a:pt x="1024" y="334"/>
                  </a:lnTo>
                  <a:cubicBezTo>
                    <a:pt x="1120" y="334"/>
                    <a:pt x="1191" y="263"/>
                    <a:pt x="1191" y="168"/>
                  </a:cubicBezTo>
                  <a:cubicBezTo>
                    <a:pt x="1191" y="84"/>
                    <a:pt x="1120" y="1"/>
                    <a:pt x="102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965689" y="1661302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703" y="620"/>
                    <a:pt x="608" y="703"/>
                    <a:pt x="500" y="703"/>
                  </a:cubicBezTo>
                  <a:cubicBezTo>
                    <a:pt x="405" y="703"/>
                    <a:pt x="322" y="620"/>
                    <a:pt x="322" y="525"/>
                  </a:cubicBezTo>
                  <a:cubicBezTo>
                    <a:pt x="322" y="417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7"/>
                    <a:pt x="227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965689" y="1710571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4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405" y="703"/>
                    <a:pt x="322" y="608"/>
                    <a:pt x="322" y="524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6"/>
                    <a:pt x="227" y="1013"/>
                    <a:pt x="500" y="1013"/>
                  </a:cubicBezTo>
                  <a:cubicBezTo>
                    <a:pt x="786" y="1013"/>
                    <a:pt x="1012" y="786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965689" y="1760604"/>
              <a:ext cx="32241" cy="31859"/>
            </a:xfrm>
            <a:custGeom>
              <a:avLst/>
              <a:gdLst/>
              <a:ahLst/>
              <a:cxnLst/>
              <a:rect l="l" t="t" r="r" b="b"/>
              <a:pathLst>
                <a:path w="1013" h="1001" extrusionOk="0">
                  <a:moveTo>
                    <a:pt x="500" y="322"/>
                  </a:moveTo>
                  <a:cubicBezTo>
                    <a:pt x="608" y="322"/>
                    <a:pt x="679" y="417"/>
                    <a:pt x="679" y="500"/>
                  </a:cubicBezTo>
                  <a:cubicBezTo>
                    <a:pt x="703" y="596"/>
                    <a:pt x="608" y="679"/>
                    <a:pt x="500" y="679"/>
                  </a:cubicBezTo>
                  <a:cubicBezTo>
                    <a:pt x="405" y="679"/>
                    <a:pt x="322" y="584"/>
                    <a:pt x="322" y="500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0"/>
                  </a:moveTo>
                  <a:cubicBezTo>
                    <a:pt x="227" y="0"/>
                    <a:pt x="0" y="215"/>
                    <a:pt x="0" y="500"/>
                  </a:cubicBezTo>
                  <a:cubicBezTo>
                    <a:pt x="0" y="786"/>
                    <a:pt x="227" y="1000"/>
                    <a:pt x="500" y="1000"/>
                  </a:cubicBezTo>
                  <a:cubicBezTo>
                    <a:pt x="786" y="1000"/>
                    <a:pt x="1012" y="786"/>
                    <a:pt x="1012" y="500"/>
                  </a:cubicBezTo>
                  <a:cubicBezTo>
                    <a:pt x="1012" y="215"/>
                    <a:pt x="786" y="0"/>
                    <a:pt x="5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1009643" y="1661302"/>
              <a:ext cx="59899" cy="10662"/>
            </a:xfrm>
            <a:custGeom>
              <a:avLst/>
              <a:gdLst/>
              <a:ahLst/>
              <a:cxnLst/>
              <a:rect l="l" t="t" r="r" b="b"/>
              <a:pathLst>
                <a:path w="1882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72"/>
                    <a:pt x="1798" y="1"/>
                    <a:pt x="17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1009643" y="1683677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0"/>
                    <a:pt x="3084" y="167"/>
                  </a:cubicBezTo>
                  <a:cubicBezTo>
                    <a:pt x="3084" y="72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1"/>
            <p:cNvSpPr/>
            <p:nvPr/>
          </p:nvSpPr>
          <p:spPr>
            <a:xfrm>
              <a:off x="1009643" y="1710571"/>
              <a:ext cx="59899" cy="10630"/>
            </a:xfrm>
            <a:custGeom>
              <a:avLst/>
              <a:gdLst/>
              <a:ahLst/>
              <a:cxnLst/>
              <a:rect l="l" t="t" r="r" b="b"/>
              <a:pathLst>
                <a:path w="1882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84"/>
                    <a:pt x="1798" y="1"/>
                    <a:pt x="17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>
              <a:off x="1009643" y="1732946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1009643" y="1760604"/>
              <a:ext cx="59899" cy="10248"/>
            </a:xfrm>
            <a:custGeom>
              <a:avLst/>
              <a:gdLst/>
              <a:ahLst/>
              <a:cxnLst/>
              <a:rect l="l" t="t" r="r" b="b"/>
              <a:pathLst>
                <a:path w="1882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715" y="322"/>
                  </a:lnTo>
                  <a:cubicBezTo>
                    <a:pt x="1798" y="322"/>
                    <a:pt x="1882" y="250"/>
                    <a:pt x="1882" y="155"/>
                  </a:cubicBezTo>
                  <a:cubicBezTo>
                    <a:pt x="1882" y="72"/>
                    <a:pt x="1798" y="0"/>
                    <a:pt x="17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1009643" y="1782183"/>
              <a:ext cx="98188" cy="10662"/>
            </a:xfrm>
            <a:custGeom>
              <a:avLst/>
              <a:gdLst/>
              <a:ahLst/>
              <a:cxnLst/>
              <a:rect l="l" t="t" r="r" b="b"/>
              <a:pathLst>
                <a:path w="3085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1"/>
                    <a:pt x="3084" y="168"/>
                  </a:cubicBezTo>
                  <a:cubicBezTo>
                    <a:pt x="3084" y="72"/>
                    <a:pt x="3013" y="1"/>
                    <a:pt x="29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1009643" y="1579473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965689" y="1628711"/>
              <a:ext cx="142142" cy="10662"/>
            </a:xfrm>
            <a:custGeom>
              <a:avLst/>
              <a:gdLst/>
              <a:ahLst/>
              <a:cxnLst/>
              <a:rect l="l" t="t" r="r" b="b"/>
              <a:pathLst>
                <a:path w="4466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4298" y="334"/>
                  </a:lnTo>
                  <a:cubicBezTo>
                    <a:pt x="4394" y="334"/>
                    <a:pt x="4465" y="251"/>
                    <a:pt x="4465" y="168"/>
                  </a:cubicBezTo>
                  <a:cubicBezTo>
                    <a:pt x="4465" y="72"/>
                    <a:pt x="4394" y="1"/>
                    <a:pt x="42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1"/>
            <p:cNvSpPr/>
            <p:nvPr/>
          </p:nvSpPr>
          <p:spPr>
            <a:xfrm>
              <a:off x="1009643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6" y="251"/>
                    <a:pt x="846" y="155"/>
                  </a:cubicBezTo>
                  <a:cubicBezTo>
                    <a:pt x="846" y="72"/>
                    <a:pt x="762" y="1"/>
                    <a:pt x="6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1"/>
            <p:cNvSpPr/>
            <p:nvPr/>
          </p:nvSpPr>
          <p:spPr>
            <a:xfrm>
              <a:off x="1047550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5" y="251"/>
                    <a:pt x="845" y="155"/>
                  </a:cubicBezTo>
                  <a:cubicBezTo>
                    <a:pt x="845" y="72"/>
                    <a:pt x="774" y="1"/>
                    <a:pt x="6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966071" y="1579473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691" y="310"/>
                  </a:moveTo>
                  <a:lnTo>
                    <a:pt x="691" y="691"/>
                  </a:lnTo>
                  <a:lnTo>
                    <a:pt x="310" y="691"/>
                  </a:lnTo>
                  <a:lnTo>
                    <a:pt x="310" y="310"/>
                  </a:lnTo>
                  <a:close/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845"/>
                  </a:lnTo>
                  <a:cubicBezTo>
                    <a:pt x="0" y="941"/>
                    <a:pt x="72" y="1012"/>
                    <a:pt x="167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5"/>
                  </a:cubicBezTo>
                  <a:lnTo>
                    <a:pt x="1012" y="167"/>
                  </a:lnTo>
                  <a:cubicBezTo>
                    <a:pt x="1000" y="71"/>
                    <a:pt x="941" y="0"/>
                    <a:pt x="8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11"/>
          <p:cNvSpPr txBox="1"/>
          <p:nvPr/>
        </p:nvSpPr>
        <p:spPr>
          <a:xfrm>
            <a:off x="7952225" y="4536150"/>
            <a:ext cx="8361000" cy="12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ES" sz="500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Sistema de entrega de valor y principios de dirección de proyectos</a:t>
            </a:r>
          </a:p>
        </p:txBody>
      </p:sp>
      <p:sp>
        <p:nvSpPr>
          <p:cNvPr id="110" name="Google Shape;110;p11"/>
          <p:cNvSpPr/>
          <p:nvPr/>
        </p:nvSpPr>
        <p:spPr>
          <a:xfrm>
            <a:off x="1365175" y="2995122"/>
            <a:ext cx="336724" cy="4296761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Google Shape;111;p11"/>
          <p:cNvSpPr/>
          <p:nvPr/>
        </p:nvSpPr>
        <p:spPr>
          <a:xfrm rot="10800000">
            <a:off x="5603076" y="2995122"/>
            <a:ext cx="336724" cy="4296761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D5E2B0E-B61B-FB32-D49B-80D579E4B4ED}"/>
              </a:ext>
            </a:extLst>
          </p:cNvPr>
          <p:cNvGrpSpPr/>
          <p:nvPr/>
        </p:nvGrpSpPr>
        <p:grpSpPr>
          <a:xfrm>
            <a:off x="1768980" y="1554940"/>
            <a:ext cx="14989323" cy="7990318"/>
            <a:chOff x="0" y="742015"/>
            <a:chExt cx="23300311" cy="114426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BD69E64-0D51-2272-E6BE-A7584186E639}"/>
                </a:ext>
              </a:extLst>
            </p:cNvPr>
            <p:cNvSpPr/>
            <p:nvPr/>
          </p:nvSpPr>
          <p:spPr>
            <a:xfrm>
              <a:off x="0" y="742015"/>
              <a:ext cx="23300311" cy="11442664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485" b="-7167"/>
              </a:stretch>
            </a:blipFill>
          </p:spPr>
          <p:txBody>
            <a:bodyPr/>
            <a:lstStyle/>
            <a:p>
              <a:endParaRPr lang="es-419" sz="1466"/>
            </a:p>
          </p:txBody>
        </p:sp>
      </p:grpSp>
    </p:spTree>
    <p:extLst>
      <p:ext uri="{BB962C8B-B14F-4D97-AF65-F5344CB8AC3E}">
        <p14:creationId xmlns:p14="http://schemas.microsoft.com/office/powerpoint/2010/main" val="2059909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/>
        </p:nvSpPr>
        <p:spPr>
          <a:xfrm>
            <a:off x="1729213" y="6658425"/>
            <a:ext cx="4276500" cy="1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2400" i="0" u="none" strike="noStrike" cap="none" dirty="0">
                <a:solidFill>
                  <a:srgbClr val="000000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El contexto importa.</a:t>
            </a:r>
            <a:endParaRPr sz="2400" i="0" u="none" strike="noStrike" cap="none" dirty="0">
              <a:solidFill>
                <a:srgbClr val="000000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2400" dirty="0">
                <a:latin typeface="Roboto Slab"/>
                <a:ea typeface="Roboto Slab"/>
                <a:cs typeface="Roboto Slab"/>
                <a:sym typeface="Roboto Slab"/>
              </a:rPr>
              <a:t>Persona, equipo, empresa.</a:t>
            </a:r>
            <a:endParaRPr sz="24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6947766" y="3984248"/>
            <a:ext cx="4315537" cy="4315617"/>
          </a:xfrm>
          <a:custGeom>
            <a:avLst/>
            <a:gdLst/>
            <a:ahLst/>
            <a:cxnLst/>
            <a:rect l="l" t="t" r="r" b="b"/>
            <a:pathLst>
              <a:path w="107747" h="107749" extrusionOk="0">
                <a:moveTo>
                  <a:pt x="53874" y="11565"/>
                </a:moveTo>
                <a:cubicBezTo>
                  <a:pt x="77238" y="11565"/>
                  <a:pt x="96182" y="30509"/>
                  <a:pt x="96182" y="53873"/>
                </a:cubicBezTo>
                <a:cubicBezTo>
                  <a:pt x="96182" y="77240"/>
                  <a:pt x="77240" y="96182"/>
                  <a:pt x="53874" y="96182"/>
                </a:cubicBezTo>
                <a:cubicBezTo>
                  <a:pt x="30507" y="96182"/>
                  <a:pt x="11565" y="77240"/>
                  <a:pt x="11565" y="53873"/>
                </a:cubicBezTo>
                <a:cubicBezTo>
                  <a:pt x="11565" y="30509"/>
                  <a:pt x="30507" y="11565"/>
                  <a:pt x="53874" y="11565"/>
                </a:cubicBezTo>
                <a:close/>
                <a:moveTo>
                  <a:pt x="53874" y="1"/>
                </a:moveTo>
                <a:cubicBezTo>
                  <a:pt x="24120" y="1"/>
                  <a:pt x="1" y="24120"/>
                  <a:pt x="1" y="53873"/>
                </a:cubicBezTo>
                <a:cubicBezTo>
                  <a:pt x="1" y="83626"/>
                  <a:pt x="24120" y="107748"/>
                  <a:pt x="53874" y="107748"/>
                </a:cubicBezTo>
                <a:cubicBezTo>
                  <a:pt x="83625" y="107748"/>
                  <a:pt x="107746" y="83626"/>
                  <a:pt x="107746" y="53873"/>
                </a:cubicBezTo>
                <a:cubicBezTo>
                  <a:pt x="107746" y="24120"/>
                  <a:pt x="83627" y="1"/>
                  <a:pt x="53874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8408442" y="3490575"/>
            <a:ext cx="1449220" cy="2668978"/>
          </a:xfrm>
          <a:custGeom>
            <a:avLst/>
            <a:gdLst/>
            <a:ahLst/>
            <a:cxnLst/>
            <a:rect l="l" t="t" r="r" b="b"/>
            <a:pathLst>
              <a:path w="36183" h="66637" extrusionOk="0">
                <a:moveTo>
                  <a:pt x="18094" y="1"/>
                </a:moveTo>
                <a:cubicBezTo>
                  <a:pt x="8801" y="1"/>
                  <a:pt x="1202" y="7552"/>
                  <a:pt x="1202" y="16877"/>
                </a:cubicBezTo>
                <a:cubicBezTo>
                  <a:pt x="1202" y="23723"/>
                  <a:pt x="5288" y="29491"/>
                  <a:pt x="11057" y="32260"/>
                </a:cubicBezTo>
                <a:cubicBezTo>
                  <a:pt x="13944" y="33580"/>
                  <a:pt x="15864" y="36464"/>
                  <a:pt x="15864" y="39714"/>
                </a:cubicBezTo>
                <a:cubicBezTo>
                  <a:pt x="15864" y="42954"/>
                  <a:pt x="13829" y="45963"/>
                  <a:pt x="10817" y="47040"/>
                </a:cubicBezTo>
                <a:cubicBezTo>
                  <a:pt x="6250" y="48723"/>
                  <a:pt x="2404" y="51972"/>
                  <a:pt x="1" y="56176"/>
                </a:cubicBezTo>
                <a:lnTo>
                  <a:pt x="18155" y="66637"/>
                </a:lnTo>
                <a:lnTo>
                  <a:pt x="36182" y="56176"/>
                </a:lnTo>
                <a:cubicBezTo>
                  <a:pt x="33779" y="51975"/>
                  <a:pt x="29930" y="48725"/>
                  <a:pt x="25479" y="47040"/>
                </a:cubicBezTo>
                <a:cubicBezTo>
                  <a:pt x="22352" y="45966"/>
                  <a:pt x="20316" y="42957"/>
                  <a:pt x="20316" y="39714"/>
                </a:cubicBezTo>
                <a:lnTo>
                  <a:pt x="20316" y="39474"/>
                </a:lnTo>
                <a:cubicBezTo>
                  <a:pt x="20316" y="36349"/>
                  <a:pt x="22239" y="33578"/>
                  <a:pt x="24998" y="32260"/>
                </a:cubicBezTo>
                <a:cubicBezTo>
                  <a:pt x="31250" y="29491"/>
                  <a:pt x="35461" y="22999"/>
                  <a:pt x="34980" y="15676"/>
                </a:cubicBezTo>
                <a:cubicBezTo>
                  <a:pt x="34375" y="7376"/>
                  <a:pt x="27644" y="646"/>
                  <a:pt x="19357" y="47"/>
                </a:cubicBezTo>
                <a:cubicBezTo>
                  <a:pt x="18933" y="18"/>
                  <a:pt x="18513" y="1"/>
                  <a:pt x="18094" y="1"/>
                </a:cubicBezTo>
                <a:close/>
              </a:path>
            </a:pathLst>
          </a:custGeom>
          <a:solidFill>
            <a:srgbClr val="00BFFF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6651537" y="5740398"/>
            <a:ext cx="2484336" cy="2090380"/>
          </a:xfrm>
          <a:custGeom>
            <a:avLst/>
            <a:gdLst/>
            <a:ahLst/>
            <a:cxnLst/>
            <a:rect l="l" t="t" r="r" b="b"/>
            <a:pathLst>
              <a:path w="62027" h="52191" extrusionOk="0">
                <a:moveTo>
                  <a:pt x="43872" y="1"/>
                </a:moveTo>
                <a:cubicBezTo>
                  <a:pt x="41468" y="4212"/>
                  <a:pt x="40629" y="9019"/>
                  <a:pt x="41353" y="13829"/>
                </a:cubicBezTo>
                <a:cubicBezTo>
                  <a:pt x="41946" y="17069"/>
                  <a:pt x="40389" y="20321"/>
                  <a:pt x="37504" y="21878"/>
                </a:cubicBezTo>
                <a:lnTo>
                  <a:pt x="37379" y="22004"/>
                </a:lnTo>
                <a:cubicBezTo>
                  <a:pt x="36131" y="22712"/>
                  <a:pt x="34723" y="23085"/>
                  <a:pt x="33288" y="23090"/>
                </a:cubicBezTo>
                <a:cubicBezTo>
                  <a:pt x="31652" y="23095"/>
                  <a:pt x="30056" y="22587"/>
                  <a:pt x="28724" y="21638"/>
                </a:cubicBezTo>
                <a:cubicBezTo>
                  <a:pt x="25815" y="19553"/>
                  <a:pt x="22344" y="18435"/>
                  <a:pt x="18815" y="18435"/>
                </a:cubicBezTo>
                <a:cubicBezTo>
                  <a:pt x="15632" y="18435"/>
                  <a:pt x="12399" y="19345"/>
                  <a:pt x="9490" y="21282"/>
                </a:cubicBezTo>
                <a:cubicBezTo>
                  <a:pt x="2520" y="25965"/>
                  <a:pt x="1" y="35101"/>
                  <a:pt x="3721" y="42677"/>
                </a:cubicBezTo>
                <a:cubicBezTo>
                  <a:pt x="6677" y="48755"/>
                  <a:pt x="12664" y="52191"/>
                  <a:pt x="18840" y="52191"/>
                </a:cubicBezTo>
                <a:cubicBezTo>
                  <a:pt x="21707" y="52191"/>
                  <a:pt x="24613" y="51450"/>
                  <a:pt x="27282" y="49890"/>
                </a:cubicBezTo>
                <a:cubicBezTo>
                  <a:pt x="33291" y="46525"/>
                  <a:pt x="36303" y="40151"/>
                  <a:pt x="35694" y="33659"/>
                </a:cubicBezTo>
                <a:cubicBezTo>
                  <a:pt x="35456" y="30534"/>
                  <a:pt x="37024" y="27407"/>
                  <a:pt x="39783" y="25852"/>
                </a:cubicBezTo>
                <a:cubicBezTo>
                  <a:pt x="41044" y="25114"/>
                  <a:pt x="42424" y="24748"/>
                  <a:pt x="43786" y="24748"/>
                </a:cubicBezTo>
                <a:cubicBezTo>
                  <a:pt x="45537" y="24748"/>
                  <a:pt x="47261" y="25356"/>
                  <a:pt x="48676" y="26573"/>
                </a:cubicBezTo>
                <a:cubicBezTo>
                  <a:pt x="52525" y="29572"/>
                  <a:pt x="57216" y="31255"/>
                  <a:pt x="62026" y="31255"/>
                </a:cubicBezTo>
                <a:lnTo>
                  <a:pt x="62026" y="10461"/>
                </a:lnTo>
                <a:close/>
              </a:path>
            </a:pathLst>
          </a:custGeom>
          <a:solidFill>
            <a:srgbClr val="00BFFF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9135497" y="5740398"/>
            <a:ext cx="2503562" cy="2091181"/>
          </a:xfrm>
          <a:custGeom>
            <a:avLst/>
            <a:gdLst/>
            <a:ahLst/>
            <a:cxnLst/>
            <a:rect l="l" t="t" r="r" b="b"/>
            <a:pathLst>
              <a:path w="62507" h="52211" extrusionOk="0">
                <a:moveTo>
                  <a:pt x="18030" y="1"/>
                </a:moveTo>
                <a:lnTo>
                  <a:pt x="0" y="10461"/>
                </a:lnTo>
                <a:lnTo>
                  <a:pt x="0" y="31253"/>
                </a:lnTo>
                <a:cubicBezTo>
                  <a:pt x="4807" y="31253"/>
                  <a:pt x="9489" y="29570"/>
                  <a:pt x="13222" y="26570"/>
                </a:cubicBezTo>
                <a:cubicBezTo>
                  <a:pt x="15722" y="24434"/>
                  <a:pt x="19307" y="24145"/>
                  <a:pt x="22118" y="25849"/>
                </a:cubicBezTo>
                <a:lnTo>
                  <a:pt x="22359" y="25965"/>
                </a:lnTo>
                <a:cubicBezTo>
                  <a:pt x="25003" y="27532"/>
                  <a:pt x="26560" y="30534"/>
                  <a:pt x="26204" y="33659"/>
                </a:cubicBezTo>
                <a:cubicBezTo>
                  <a:pt x="25599" y="40389"/>
                  <a:pt x="28964" y="47244"/>
                  <a:pt x="35578" y="50486"/>
                </a:cubicBezTo>
                <a:cubicBezTo>
                  <a:pt x="37877" y="51619"/>
                  <a:pt x="40405" y="52210"/>
                  <a:pt x="42968" y="52208"/>
                </a:cubicBezTo>
                <a:cubicBezTo>
                  <a:pt x="48435" y="52208"/>
                  <a:pt x="53755" y="49544"/>
                  <a:pt x="56978" y="44840"/>
                </a:cubicBezTo>
                <a:cubicBezTo>
                  <a:pt x="62506" y="36540"/>
                  <a:pt x="59862" y="25484"/>
                  <a:pt x="51447" y="20674"/>
                </a:cubicBezTo>
                <a:cubicBezTo>
                  <a:pt x="48774" y="19149"/>
                  <a:pt x="45855" y="18413"/>
                  <a:pt x="42983" y="18413"/>
                </a:cubicBezTo>
                <a:cubicBezTo>
                  <a:pt x="39520" y="18413"/>
                  <a:pt x="36121" y="19482"/>
                  <a:pt x="33290" y="21523"/>
                </a:cubicBezTo>
                <a:cubicBezTo>
                  <a:pt x="30671" y="23429"/>
                  <a:pt x="27161" y="23571"/>
                  <a:pt x="24397" y="21878"/>
                </a:cubicBezTo>
                <a:cubicBezTo>
                  <a:pt x="21510" y="20321"/>
                  <a:pt x="19955" y="17069"/>
                  <a:pt x="20549" y="13829"/>
                </a:cubicBezTo>
                <a:cubicBezTo>
                  <a:pt x="21272" y="9019"/>
                  <a:pt x="20433" y="4212"/>
                  <a:pt x="18030" y="1"/>
                </a:cubicBezTo>
                <a:close/>
              </a:path>
            </a:pathLst>
          </a:custGeom>
          <a:solidFill>
            <a:srgbClr val="00BFFF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8483237" y="5482893"/>
            <a:ext cx="1321538" cy="1321538"/>
          </a:xfrm>
          <a:custGeom>
            <a:avLst/>
            <a:gdLst/>
            <a:ahLst/>
            <a:cxnLst/>
            <a:rect l="l" t="t" r="r" b="b"/>
            <a:pathLst>
              <a:path w="1563950" h="1563950" extrusionOk="0">
                <a:moveTo>
                  <a:pt x="1563951" y="781975"/>
                </a:moveTo>
                <a:cubicBezTo>
                  <a:pt x="1563951" y="1213849"/>
                  <a:pt x="1213849" y="1563951"/>
                  <a:pt x="781975" y="1563951"/>
                </a:cubicBezTo>
                <a:cubicBezTo>
                  <a:pt x="350102" y="1563951"/>
                  <a:pt x="0" y="1213849"/>
                  <a:pt x="0" y="781975"/>
                </a:cubicBezTo>
                <a:cubicBezTo>
                  <a:pt x="0" y="350102"/>
                  <a:pt x="350102" y="0"/>
                  <a:pt x="781975" y="0"/>
                </a:cubicBezTo>
                <a:cubicBezTo>
                  <a:pt x="1213849" y="0"/>
                  <a:pt x="1563951" y="350102"/>
                  <a:pt x="1563951" y="78197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10564710" y="4996764"/>
            <a:ext cx="663000" cy="66300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031"/>
              </a:solidFill>
              <a:latin typeface="Tiro Devanagari Marathi"/>
              <a:ea typeface="Tiro Devanagari Marathi"/>
              <a:cs typeface="Tiro Devanagari Marathi"/>
              <a:sym typeface="Tiro Devanagari Marath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8812647" y="7729893"/>
            <a:ext cx="663000" cy="66300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031"/>
              </a:solidFill>
              <a:latin typeface="Tiro Devanagari Marathi"/>
              <a:ea typeface="Tiro Devanagari Marathi"/>
              <a:cs typeface="Tiro Devanagari Marathi"/>
              <a:sym typeface="Tiro Devanagari Marath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7049520" y="4996764"/>
            <a:ext cx="663000" cy="66300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031"/>
              </a:solidFill>
              <a:latin typeface="Tiro Devanagari Marathi"/>
              <a:ea typeface="Tiro Devanagari Marathi"/>
              <a:cs typeface="Tiro Devanagari Marathi"/>
              <a:sym typeface="Tiro Devanagari Marath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8852107" y="5706651"/>
            <a:ext cx="737201" cy="737184"/>
          </a:xfrm>
          <a:custGeom>
            <a:avLst/>
            <a:gdLst/>
            <a:ahLst/>
            <a:cxnLst/>
            <a:rect l="l" t="t" r="r" b="b"/>
            <a:pathLst>
              <a:path w="11264" h="11253" extrusionOk="0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" name="Google Shape;189;p13"/>
          <p:cNvGrpSpPr/>
          <p:nvPr/>
        </p:nvGrpSpPr>
        <p:grpSpPr>
          <a:xfrm>
            <a:off x="10481009" y="6804432"/>
            <a:ext cx="737184" cy="737306"/>
            <a:chOff x="860940" y="2746477"/>
            <a:chExt cx="371883" cy="365691"/>
          </a:xfrm>
        </p:grpSpPr>
        <p:sp>
          <p:nvSpPr>
            <p:cNvPr id="190" name="Google Shape;190;p13"/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13"/>
          <p:cNvGrpSpPr/>
          <p:nvPr/>
        </p:nvGrpSpPr>
        <p:grpSpPr>
          <a:xfrm>
            <a:off x="6992973" y="6804448"/>
            <a:ext cx="776078" cy="737238"/>
            <a:chOff x="4126815" y="2760704"/>
            <a:chExt cx="380393" cy="363118"/>
          </a:xfrm>
        </p:grpSpPr>
        <p:sp>
          <p:nvSpPr>
            <p:cNvPr id="196" name="Google Shape;196;p13"/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13"/>
          <p:cNvGrpSpPr/>
          <p:nvPr/>
        </p:nvGrpSpPr>
        <p:grpSpPr>
          <a:xfrm>
            <a:off x="8784264" y="3824711"/>
            <a:ext cx="697592" cy="696691"/>
            <a:chOff x="2656907" y="2439293"/>
            <a:chExt cx="332757" cy="332343"/>
          </a:xfrm>
        </p:grpSpPr>
        <p:sp>
          <p:nvSpPr>
            <p:cNvPr id="201" name="Google Shape;201;p13"/>
            <p:cNvSpPr/>
            <p:nvPr/>
          </p:nvSpPr>
          <p:spPr>
            <a:xfrm>
              <a:off x="2868751" y="2547666"/>
              <a:ext cx="53088" cy="53088"/>
            </a:xfrm>
            <a:custGeom>
              <a:avLst/>
              <a:gdLst/>
              <a:ahLst/>
              <a:cxnLst/>
              <a:rect l="l" t="t" r="r" b="b"/>
              <a:pathLst>
                <a:path w="1668" h="1668" extrusionOk="0">
                  <a:moveTo>
                    <a:pt x="834" y="334"/>
                  </a:moveTo>
                  <a:cubicBezTo>
                    <a:pt x="1120" y="334"/>
                    <a:pt x="1346" y="548"/>
                    <a:pt x="1346" y="834"/>
                  </a:cubicBezTo>
                  <a:cubicBezTo>
                    <a:pt x="1346" y="1120"/>
                    <a:pt x="1120" y="1334"/>
                    <a:pt x="834" y="1334"/>
                  </a:cubicBezTo>
                  <a:cubicBezTo>
                    <a:pt x="560" y="1334"/>
                    <a:pt x="334" y="1120"/>
                    <a:pt x="334" y="834"/>
                  </a:cubicBezTo>
                  <a:cubicBezTo>
                    <a:pt x="334" y="548"/>
                    <a:pt x="572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81" y="0"/>
                    <a:pt x="0" y="370"/>
                    <a:pt x="0" y="834"/>
                  </a:cubicBezTo>
                  <a:cubicBezTo>
                    <a:pt x="0" y="1298"/>
                    <a:pt x="381" y="1667"/>
                    <a:pt x="834" y="1667"/>
                  </a:cubicBezTo>
                  <a:cubicBezTo>
                    <a:pt x="1298" y="1667"/>
                    <a:pt x="1667" y="1298"/>
                    <a:pt x="1667" y="834"/>
                  </a:cubicBezTo>
                  <a:cubicBezTo>
                    <a:pt x="1667" y="370"/>
                    <a:pt x="1298" y="0"/>
                    <a:pt x="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2870661" y="2611703"/>
              <a:ext cx="68970" cy="49301"/>
            </a:xfrm>
            <a:custGeom>
              <a:avLst/>
              <a:gdLst/>
              <a:ahLst/>
              <a:cxnLst/>
              <a:rect l="l" t="t" r="r" b="b"/>
              <a:pathLst>
                <a:path w="2167" h="1549" extrusionOk="0">
                  <a:moveTo>
                    <a:pt x="774" y="1"/>
                  </a:moveTo>
                  <a:cubicBezTo>
                    <a:pt x="560" y="1"/>
                    <a:pt x="333" y="60"/>
                    <a:pt x="119" y="167"/>
                  </a:cubicBezTo>
                  <a:cubicBezTo>
                    <a:pt x="48" y="203"/>
                    <a:pt x="0" y="310"/>
                    <a:pt x="48" y="382"/>
                  </a:cubicBezTo>
                  <a:cubicBezTo>
                    <a:pt x="83" y="443"/>
                    <a:pt x="150" y="479"/>
                    <a:pt x="212" y="479"/>
                  </a:cubicBezTo>
                  <a:cubicBezTo>
                    <a:pt x="234" y="479"/>
                    <a:pt x="255" y="474"/>
                    <a:pt x="274" y="465"/>
                  </a:cubicBezTo>
                  <a:cubicBezTo>
                    <a:pt x="417" y="382"/>
                    <a:pt x="595" y="346"/>
                    <a:pt x="762" y="346"/>
                  </a:cubicBezTo>
                  <a:cubicBezTo>
                    <a:pt x="1286" y="346"/>
                    <a:pt x="1715" y="727"/>
                    <a:pt x="1786" y="1215"/>
                  </a:cubicBezTo>
                  <a:lnTo>
                    <a:pt x="762" y="1215"/>
                  </a:lnTo>
                  <a:cubicBezTo>
                    <a:pt x="679" y="1215"/>
                    <a:pt x="595" y="1298"/>
                    <a:pt x="595" y="1382"/>
                  </a:cubicBezTo>
                  <a:cubicBezTo>
                    <a:pt x="595" y="1477"/>
                    <a:pt x="679" y="1548"/>
                    <a:pt x="762" y="1548"/>
                  </a:cubicBezTo>
                  <a:lnTo>
                    <a:pt x="1988" y="1548"/>
                  </a:lnTo>
                  <a:cubicBezTo>
                    <a:pt x="2072" y="1548"/>
                    <a:pt x="2143" y="1477"/>
                    <a:pt x="2143" y="1382"/>
                  </a:cubicBezTo>
                  <a:cubicBezTo>
                    <a:pt x="2167" y="608"/>
                    <a:pt x="1536" y="1"/>
                    <a:pt x="7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2705794" y="2611321"/>
              <a:ext cx="68620" cy="49301"/>
            </a:xfrm>
            <a:custGeom>
              <a:avLst/>
              <a:gdLst/>
              <a:ahLst/>
              <a:cxnLst/>
              <a:rect l="l" t="t" r="r" b="b"/>
              <a:pathLst>
                <a:path w="2156" h="1549" extrusionOk="0">
                  <a:moveTo>
                    <a:pt x="1394" y="1"/>
                  </a:moveTo>
                  <a:cubicBezTo>
                    <a:pt x="632" y="1"/>
                    <a:pt x="1" y="620"/>
                    <a:pt x="1" y="1382"/>
                  </a:cubicBezTo>
                  <a:cubicBezTo>
                    <a:pt x="1" y="1465"/>
                    <a:pt x="84" y="1548"/>
                    <a:pt x="167" y="1548"/>
                  </a:cubicBezTo>
                  <a:lnTo>
                    <a:pt x="1406" y="1548"/>
                  </a:lnTo>
                  <a:cubicBezTo>
                    <a:pt x="1489" y="1548"/>
                    <a:pt x="1572" y="1465"/>
                    <a:pt x="1572" y="1382"/>
                  </a:cubicBezTo>
                  <a:cubicBezTo>
                    <a:pt x="1572" y="1287"/>
                    <a:pt x="1501" y="1215"/>
                    <a:pt x="1418" y="1215"/>
                  </a:cubicBezTo>
                  <a:lnTo>
                    <a:pt x="382" y="1215"/>
                  </a:lnTo>
                  <a:cubicBezTo>
                    <a:pt x="453" y="727"/>
                    <a:pt x="882" y="334"/>
                    <a:pt x="1406" y="334"/>
                  </a:cubicBezTo>
                  <a:cubicBezTo>
                    <a:pt x="1584" y="334"/>
                    <a:pt x="1751" y="382"/>
                    <a:pt x="1894" y="453"/>
                  </a:cubicBezTo>
                  <a:cubicBezTo>
                    <a:pt x="1918" y="469"/>
                    <a:pt x="1945" y="477"/>
                    <a:pt x="1974" y="477"/>
                  </a:cubicBezTo>
                  <a:cubicBezTo>
                    <a:pt x="2030" y="477"/>
                    <a:pt x="2088" y="445"/>
                    <a:pt x="2120" y="382"/>
                  </a:cubicBezTo>
                  <a:cubicBezTo>
                    <a:pt x="2156" y="310"/>
                    <a:pt x="2132" y="203"/>
                    <a:pt x="2049" y="155"/>
                  </a:cubicBezTo>
                  <a:cubicBezTo>
                    <a:pt x="1846" y="60"/>
                    <a:pt x="1632" y="1"/>
                    <a:pt x="1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2724000" y="2547666"/>
              <a:ext cx="53088" cy="53088"/>
            </a:xfrm>
            <a:custGeom>
              <a:avLst/>
              <a:gdLst/>
              <a:ahLst/>
              <a:cxnLst/>
              <a:rect l="l" t="t" r="r" b="b"/>
              <a:pathLst>
                <a:path w="1668" h="1668" extrusionOk="0">
                  <a:moveTo>
                    <a:pt x="834" y="334"/>
                  </a:moveTo>
                  <a:cubicBezTo>
                    <a:pt x="1119" y="334"/>
                    <a:pt x="1334" y="548"/>
                    <a:pt x="1334" y="834"/>
                  </a:cubicBezTo>
                  <a:cubicBezTo>
                    <a:pt x="1334" y="1120"/>
                    <a:pt x="1119" y="1334"/>
                    <a:pt x="834" y="1334"/>
                  </a:cubicBezTo>
                  <a:cubicBezTo>
                    <a:pt x="548" y="1334"/>
                    <a:pt x="322" y="1120"/>
                    <a:pt x="322" y="834"/>
                  </a:cubicBezTo>
                  <a:cubicBezTo>
                    <a:pt x="322" y="548"/>
                    <a:pt x="548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69" y="0"/>
                    <a:pt x="0" y="370"/>
                    <a:pt x="0" y="834"/>
                  </a:cubicBezTo>
                  <a:cubicBezTo>
                    <a:pt x="0" y="1298"/>
                    <a:pt x="369" y="1667"/>
                    <a:pt x="834" y="1667"/>
                  </a:cubicBezTo>
                  <a:cubicBezTo>
                    <a:pt x="1298" y="1667"/>
                    <a:pt x="1667" y="1298"/>
                    <a:pt x="1667" y="834"/>
                  </a:cubicBezTo>
                  <a:cubicBezTo>
                    <a:pt x="1667" y="370"/>
                    <a:pt x="1298" y="0"/>
                    <a:pt x="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2788800" y="2534394"/>
              <a:ext cx="68238" cy="68238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072" y="334"/>
                  </a:moveTo>
                  <a:cubicBezTo>
                    <a:pt x="1489" y="334"/>
                    <a:pt x="1822" y="656"/>
                    <a:pt x="1822" y="1072"/>
                  </a:cubicBezTo>
                  <a:cubicBezTo>
                    <a:pt x="1822" y="1489"/>
                    <a:pt x="1489" y="1822"/>
                    <a:pt x="1072" y="1822"/>
                  </a:cubicBezTo>
                  <a:cubicBezTo>
                    <a:pt x="655" y="1822"/>
                    <a:pt x="334" y="1489"/>
                    <a:pt x="334" y="1072"/>
                  </a:cubicBezTo>
                  <a:cubicBezTo>
                    <a:pt x="334" y="656"/>
                    <a:pt x="667" y="334"/>
                    <a:pt x="1072" y="334"/>
                  </a:cubicBezTo>
                  <a:close/>
                  <a:moveTo>
                    <a:pt x="1072" y="1"/>
                  </a:moveTo>
                  <a:cubicBezTo>
                    <a:pt x="477" y="1"/>
                    <a:pt x="0" y="477"/>
                    <a:pt x="0" y="1072"/>
                  </a:cubicBezTo>
                  <a:cubicBezTo>
                    <a:pt x="0" y="1668"/>
                    <a:pt x="477" y="2144"/>
                    <a:pt x="1072" y="2144"/>
                  </a:cubicBezTo>
                  <a:cubicBezTo>
                    <a:pt x="1667" y="2144"/>
                    <a:pt x="2143" y="1668"/>
                    <a:pt x="2143" y="1072"/>
                  </a:cubicBezTo>
                  <a:cubicBezTo>
                    <a:pt x="2143" y="477"/>
                    <a:pt x="1667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2764930" y="2613613"/>
              <a:ext cx="115979" cy="62923"/>
            </a:xfrm>
            <a:custGeom>
              <a:avLst/>
              <a:gdLst/>
              <a:ahLst/>
              <a:cxnLst/>
              <a:rect l="l" t="t" r="r" b="b"/>
              <a:pathLst>
                <a:path w="3644" h="1977" extrusionOk="0">
                  <a:moveTo>
                    <a:pt x="1822" y="345"/>
                  </a:moveTo>
                  <a:cubicBezTo>
                    <a:pt x="2584" y="345"/>
                    <a:pt x="3203" y="917"/>
                    <a:pt x="3298" y="1655"/>
                  </a:cubicBezTo>
                  <a:lnTo>
                    <a:pt x="345" y="1655"/>
                  </a:lnTo>
                  <a:cubicBezTo>
                    <a:pt x="441" y="905"/>
                    <a:pt x="1060" y="345"/>
                    <a:pt x="1822" y="345"/>
                  </a:cubicBezTo>
                  <a:close/>
                  <a:moveTo>
                    <a:pt x="1822" y="0"/>
                  </a:moveTo>
                  <a:cubicBezTo>
                    <a:pt x="822" y="0"/>
                    <a:pt x="0" y="822"/>
                    <a:pt x="0" y="1810"/>
                  </a:cubicBezTo>
                  <a:cubicBezTo>
                    <a:pt x="0" y="1905"/>
                    <a:pt x="84" y="1977"/>
                    <a:pt x="167" y="1977"/>
                  </a:cubicBezTo>
                  <a:lnTo>
                    <a:pt x="3477" y="1977"/>
                  </a:lnTo>
                  <a:cubicBezTo>
                    <a:pt x="3560" y="1977"/>
                    <a:pt x="3643" y="1905"/>
                    <a:pt x="3643" y="1810"/>
                  </a:cubicBezTo>
                  <a:cubicBezTo>
                    <a:pt x="3643" y="798"/>
                    <a:pt x="2822" y="0"/>
                    <a:pt x="18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2656907" y="2439293"/>
              <a:ext cx="332757" cy="332343"/>
            </a:xfrm>
            <a:custGeom>
              <a:avLst/>
              <a:gdLst/>
              <a:ahLst/>
              <a:cxnLst/>
              <a:rect l="l" t="t" r="r" b="b"/>
              <a:pathLst>
                <a:path w="10455" h="10442" extrusionOk="0">
                  <a:moveTo>
                    <a:pt x="5383" y="893"/>
                  </a:moveTo>
                  <a:cubicBezTo>
                    <a:pt x="7645" y="977"/>
                    <a:pt x="9454" y="2798"/>
                    <a:pt x="9550" y="5060"/>
                  </a:cubicBezTo>
                  <a:lnTo>
                    <a:pt x="9145" y="5060"/>
                  </a:lnTo>
                  <a:cubicBezTo>
                    <a:pt x="9050" y="5060"/>
                    <a:pt x="8978" y="5132"/>
                    <a:pt x="8978" y="5227"/>
                  </a:cubicBezTo>
                  <a:cubicBezTo>
                    <a:pt x="8978" y="5310"/>
                    <a:pt x="9050" y="5382"/>
                    <a:pt x="9145" y="5382"/>
                  </a:cubicBezTo>
                  <a:lnTo>
                    <a:pt x="9550" y="5382"/>
                  </a:lnTo>
                  <a:cubicBezTo>
                    <a:pt x="9454" y="7644"/>
                    <a:pt x="7645" y="9466"/>
                    <a:pt x="5383" y="9549"/>
                  </a:cubicBezTo>
                  <a:lnTo>
                    <a:pt x="5383" y="9156"/>
                  </a:lnTo>
                  <a:cubicBezTo>
                    <a:pt x="5383" y="9061"/>
                    <a:pt x="5311" y="8989"/>
                    <a:pt x="5216" y="8989"/>
                  </a:cubicBezTo>
                  <a:cubicBezTo>
                    <a:pt x="5121" y="8989"/>
                    <a:pt x="5049" y="9061"/>
                    <a:pt x="5049" y="9156"/>
                  </a:cubicBezTo>
                  <a:lnTo>
                    <a:pt x="5049" y="9549"/>
                  </a:lnTo>
                  <a:cubicBezTo>
                    <a:pt x="2787" y="9466"/>
                    <a:pt x="977" y="7644"/>
                    <a:pt x="882" y="5382"/>
                  </a:cubicBezTo>
                  <a:lnTo>
                    <a:pt x="1287" y="5382"/>
                  </a:lnTo>
                  <a:cubicBezTo>
                    <a:pt x="1382" y="5382"/>
                    <a:pt x="1453" y="5310"/>
                    <a:pt x="1453" y="5227"/>
                  </a:cubicBezTo>
                  <a:cubicBezTo>
                    <a:pt x="1453" y="5132"/>
                    <a:pt x="1382" y="5060"/>
                    <a:pt x="1287" y="5060"/>
                  </a:cubicBezTo>
                  <a:lnTo>
                    <a:pt x="882" y="5060"/>
                  </a:lnTo>
                  <a:cubicBezTo>
                    <a:pt x="977" y="2798"/>
                    <a:pt x="2787" y="977"/>
                    <a:pt x="5049" y="893"/>
                  </a:cubicBezTo>
                  <a:lnTo>
                    <a:pt x="5049" y="1286"/>
                  </a:lnTo>
                  <a:cubicBezTo>
                    <a:pt x="5049" y="1381"/>
                    <a:pt x="5121" y="1453"/>
                    <a:pt x="5216" y="1453"/>
                  </a:cubicBezTo>
                  <a:cubicBezTo>
                    <a:pt x="5311" y="1453"/>
                    <a:pt x="5383" y="1381"/>
                    <a:pt x="5383" y="1286"/>
                  </a:cubicBezTo>
                  <a:lnTo>
                    <a:pt x="5383" y="893"/>
                  </a:lnTo>
                  <a:close/>
                  <a:moveTo>
                    <a:pt x="5228" y="0"/>
                  </a:moveTo>
                  <a:cubicBezTo>
                    <a:pt x="5144" y="0"/>
                    <a:pt x="5061" y="72"/>
                    <a:pt x="5061" y="167"/>
                  </a:cubicBezTo>
                  <a:lnTo>
                    <a:pt x="5061" y="560"/>
                  </a:lnTo>
                  <a:cubicBezTo>
                    <a:pt x="2620" y="655"/>
                    <a:pt x="656" y="2620"/>
                    <a:pt x="572" y="5060"/>
                  </a:cubicBezTo>
                  <a:lnTo>
                    <a:pt x="168" y="5060"/>
                  </a:lnTo>
                  <a:cubicBezTo>
                    <a:pt x="84" y="5060"/>
                    <a:pt x="1" y="5132"/>
                    <a:pt x="1" y="5227"/>
                  </a:cubicBezTo>
                  <a:cubicBezTo>
                    <a:pt x="1" y="5310"/>
                    <a:pt x="84" y="5382"/>
                    <a:pt x="168" y="5382"/>
                  </a:cubicBezTo>
                  <a:lnTo>
                    <a:pt x="572" y="5382"/>
                  </a:lnTo>
                  <a:cubicBezTo>
                    <a:pt x="656" y="7823"/>
                    <a:pt x="2620" y="9787"/>
                    <a:pt x="5061" y="9882"/>
                  </a:cubicBezTo>
                  <a:lnTo>
                    <a:pt x="5061" y="10287"/>
                  </a:lnTo>
                  <a:cubicBezTo>
                    <a:pt x="5061" y="10371"/>
                    <a:pt x="5144" y="10442"/>
                    <a:pt x="5228" y="10442"/>
                  </a:cubicBezTo>
                  <a:cubicBezTo>
                    <a:pt x="5323" y="10442"/>
                    <a:pt x="5394" y="10371"/>
                    <a:pt x="5394" y="10287"/>
                  </a:cubicBezTo>
                  <a:lnTo>
                    <a:pt x="5394" y="9882"/>
                  </a:lnTo>
                  <a:cubicBezTo>
                    <a:pt x="7835" y="9787"/>
                    <a:pt x="9800" y="7823"/>
                    <a:pt x="9883" y="5382"/>
                  </a:cubicBezTo>
                  <a:lnTo>
                    <a:pt x="10288" y="5382"/>
                  </a:lnTo>
                  <a:cubicBezTo>
                    <a:pt x="10383" y="5382"/>
                    <a:pt x="10455" y="5310"/>
                    <a:pt x="10455" y="5227"/>
                  </a:cubicBezTo>
                  <a:cubicBezTo>
                    <a:pt x="10455" y="5132"/>
                    <a:pt x="10383" y="5060"/>
                    <a:pt x="10288" y="5060"/>
                  </a:cubicBezTo>
                  <a:lnTo>
                    <a:pt x="9883" y="5060"/>
                  </a:lnTo>
                  <a:cubicBezTo>
                    <a:pt x="9800" y="2620"/>
                    <a:pt x="7835" y="655"/>
                    <a:pt x="5394" y="560"/>
                  </a:cubicBezTo>
                  <a:lnTo>
                    <a:pt x="5394" y="167"/>
                  </a:lnTo>
                  <a:cubicBezTo>
                    <a:pt x="5394" y="72"/>
                    <a:pt x="5323" y="0"/>
                    <a:pt x="52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13"/>
          <p:cNvSpPr txBox="1"/>
          <p:nvPr/>
        </p:nvSpPr>
        <p:spPr>
          <a:xfrm>
            <a:off x="11724663" y="3490575"/>
            <a:ext cx="4276500" cy="1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2400" i="0" u="none" strike="noStrike" cap="none" dirty="0">
                <a:solidFill>
                  <a:srgbClr val="000000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Elegir</a:t>
            </a:r>
            <a:endParaRPr sz="2400" i="0" u="none" strike="noStrike" cap="none" dirty="0">
              <a:solidFill>
                <a:srgbClr val="000000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2400" i="0" u="none" strike="noStrike" cap="none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Identificar las opciones , cuáles son los pro y contra de cada una.</a:t>
            </a:r>
            <a:endParaRPr sz="24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12282288" y="6352275"/>
            <a:ext cx="4276500" cy="1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2400" i="0" u="none" strike="noStrike" cap="none" dirty="0">
                <a:solidFill>
                  <a:srgbClr val="000000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Optimizar</a:t>
            </a:r>
            <a:endParaRPr sz="2400" i="0" u="none" strike="noStrike" cap="none" dirty="0">
              <a:solidFill>
                <a:srgbClr val="000000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2400" i="0" u="none" strike="noStrike" cap="none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Mejorar el flujo de trabajo.</a:t>
            </a:r>
            <a:endParaRPr sz="24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210" name="Google Shape;210;p13"/>
          <p:cNvCxnSpPr/>
          <p:nvPr/>
        </p:nvCxnSpPr>
        <p:spPr>
          <a:xfrm>
            <a:off x="6275838" y="7479225"/>
            <a:ext cx="442800" cy="0"/>
          </a:xfrm>
          <a:prstGeom prst="straightConnector1">
            <a:avLst/>
          </a:prstGeom>
          <a:noFill/>
          <a:ln w="28575" cap="flat" cmpd="sng">
            <a:solidFill>
              <a:srgbClr val="00BFFF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11" name="Google Shape;211;p13"/>
          <p:cNvCxnSpPr/>
          <p:nvPr/>
        </p:nvCxnSpPr>
        <p:spPr>
          <a:xfrm>
            <a:off x="11585563" y="7222375"/>
            <a:ext cx="442800" cy="0"/>
          </a:xfrm>
          <a:prstGeom prst="straightConnector1">
            <a:avLst/>
          </a:prstGeom>
          <a:noFill/>
          <a:ln w="28575" cap="flat" cmpd="sng">
            <a:solidFill>
              <a:srgbClr val="00BFFF"/>
            </a:solidFill>
            <a:prstDash val="solid"/>
            <a:round/>
            <a:headEnd type="none" w="sm" len="sm"/>
            <a:tailEnd type="diamond" w="med" len="med"/>
          </a:ln>
        </p:spPr>
      </p:cxnSp>
      <p:cxnSp>
        <p:nvCxnSpPr>
          <p:cNvPr id="212" name="Google Shape;212;p13"/>
          <p:cNvCxnSpPr/>
          <p:nvPr/>
        </p:nvCxnSpPr>
        <p:spPr>
          <a:xfrm>
            <a:off x="9857663" y="3936775"/>
            <a:ext cx="1602300" cy="0"/>
          </a:xfrm>
          <a:prstGeom prst="straightConnector1">
            <a:avLst/>
          </a:prstGeom>
          <a:noFill/>
          <a:ln w="28575" cap="flat" cmpd="sng">
            <a:solidFill>
              <a:srgbClr val="00BFFF"/>
            </a:solidFill>
            <a:prstDash val="solid"/>
            <a:round/>
            <a:headEnd type="none" w="sm" len="sm"/>
            <a:tailEnd type="diamond" w="med" len="med"/>
          </a:ln>
        </p:spPr>
      </p:cxnSp>
      <p:sp>
        <p:nvSpPr>
          <p:cNvPr id="213" name="Google Shape;213;p13"/>
          <p:cNvSpPr txBox="1"/>
          <p:nvPr/>
        </p:nvSpPr>
        <p:spPr>
          <a:xfrm>
            <a:off x="1466850" y="2048138"/>
            <a:ext cx="1535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419" sz="5000" dirty="0">
                <a:latin typeface="Roboto Slab Black"/>
                <a:ea typeface="Roboto Slab Black"/>
                <a:cs typeface="Roboto Slab Black"/>
                <a:sym typeface="Roboto Slab Black"/>
              </a:rPr>
              <a:t>¿Por qué deberían los equipos elegir su WoW?</a:t>
            </a:r>
            <a:endParaRPr sz="500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882" y="1486340"/>
            <a:ext cx="14489723" cy="80825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C7A416D-2F27-69E1-FABA-4AF1A38FC569}"/>
              </a:ext>
            </a:extLst>
          </p:cNvPr>
          <p:cNvGrpSpPr/>
          <p:nvPr/>
        </p:nvGrpSpPr>
        <p:grpSpPr>
          <a:xfrm>
            <a:off x="1632247" y="1316052"/>
            <a:ext cx="15833464" cy="8876944"/>
            <a:chOff x="0" y="0"/>
            <a:chExt cx="23300271" cy="13004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989CCB-6F9A-E217-BE98-2675E3D3B8B9}"/>
                </a:ext>
              </a:extLst>
            </p:cNvPr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419" sz="1466"/>
            </a:p>
          </p:txBody>
        </p:sp>
      </p:grpSp>
    </p:spTree>
    <p:extLst>
      <p:ext uri="{BB962C8B-B14F-4D97-AF65-F5344CB8AC3E}">
        <p14:creationId xmlns:p14="http://schemas.microsoft.com/office/powerpoint/2010/main" val="3046180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AC7D8BA-EC7D-2619-E66A-979ADAF14804}"/>
              </a:ext>
            </a:extLst>
          </p:cNvPr>
          <p:cNvGrpSpPr/>
          <p:nvPr/>
        </p:nvGrpSpPr>
        <p:grpSpPr>
          <a:xfrm>
            <a:off x="1555334" y="1410056"/>
            <a:ext cx="15925573" cy="8575864"/>
            <a:chOff x="0" y="0"/>
            <a:chExt cx="23300271" cy="13004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831039-1047-4AC3-9596-89152AACBF9A}"/>
                </a:ext>
              </a:extLst>
            </p:cNvPr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419" sz="1466"/>
            </a:p>
          </p:txBody>
        </p:sp>
      </p:grpSp>
    </p:spTree>
    <p:extLst>
      <p:ext uri="{BB962C8B-B14F-4D97-AF65-F5344CB8AC3E}">
        <p14:creationId xmlns:p14="http://schemas.microsoft.com/office/powerpoint/2010/main" val="2433371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A38EE69-5BFC-C464-A110-F8ADEF714C01}"/>
              </a:ext>
            </a:extLst>
          </p:cNvPr>
          <p:cNvGrpSpPr/>
          <p:nvPr/>
        </p:nvGrpSpPr>
        <p:grpSpPr>
          <a:xfrm>
            <a:off x="1298962" y="1614086"/>
            <a:ext cx="16160096" cy="7940111"/>
            <a:chOff x="0" y="1216489"/>
            <a:chExt cx="23300311" cy="1092197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F0869A-21F3-853A-7243-21B9788AAECE}"/>
                </a:ext>
              </a:extLst>
            </p:cNvPr>
            <p:cNvSpPr/>
            <p:nvPr/>
          </p:nvSpPr>
          <p:spPr>
            <a:xfrm>
              <a:off x="0" y="1216489"/>
              <a:ext cx="23300311" cy="10921974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140" b="-7930"/>
              </a:stretch>
            </a:blipFill>
          </p:spPr>
          <p:txBody>
            <a:bodyPr/>
            <a:lstStyle/>
            <a:p>
              <a:endParaRPr lang="es-419" sz="1466"/>
            </a:p>
          </p:txBody>
        </p:sp>
      </p:grpSp>
    </p:spTree>
    <p:extLst>
      <p:ext uri="{BB962C8B-B14F-4D97-AF65-F5344CB8AC3E}">
        <p14:creationId xmlns:p14="http://schemas.microsoft.com/office/powerpoint/2010/main" val="3793962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382" y="1540412"/>
            <a:ext cx="14784869" cy="82471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/>
          <p:nvPr/>
        </p:nvSpPr>
        <p:spPr>
          <a:xfrm>
            <a:off x="4599551" y="4916426"/>
            <a:ext cx="2650200" cy="3675000"/>
          </a:xfrm>
          <a:prstGeom prst="roundRect">
            <a:avLst>
              <a:gd name="adj" fmla="val 591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182850" tIns="91440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5313782" y="3432267"/>
            <a:ext cx="1221900" cy="122190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182850" tIns="182850" rIns="182850" bIns="201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4428781" y="5121387"/>
            <a:ext cx="2991900" cy="597900"/>
          </a:xfrm>
          <a:prstGeom prst="roundRect">
            <a:avLst>
              <a:gd name="adj" fmla="val 50000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201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i="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Ciclo  de vida</a:t>
            </a:r>
            <a:endParaRPr sz="1800" i="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7828608" y="4916426"/>
            <a:ext cx="2650200" cy="3675000"/>
          </a:xfrm>
          <a:prstGeom prst="roundRect">
            <a:avLst>
              <a:gd name="adj" fmla="val 591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182850" tIns="91440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8542823" y="3432267"/>
            <a:ext cx="1221900" cy="122190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182850" tIns="182850" rIns="182850" bIns="201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7657836" y="5121387"/>
            <a:ext cx="2991900" cy="597900"/>
          </a:xfrm>
          <a:prstGeom prst="roundRect">
            <a:avLst>
              <a:gd name="adj" fmla="val 50000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201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i="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Meta del proceso</a:t>
            </a:r>
            <a:endParaRPr sz="1800" i="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11057665" y="4916426"/>
            <a:ext cx="2650200" cy="3675000"/>
          </a:xfrm>
          <a:prstGeom prst="roundRect">
            <a:avLst>
              <a:gd name="adj" fmla="val 591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182850" tIns="91440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11771877" y="3432267"/>
            <a:ext cx="1221900" cy="122190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182850" tIns="182850" rIns="182850" bIns="201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10886891" y="5121387"/>
            <a:ext cx="2991900" cy="597900"/>
          </a:xfrm>
          <a:prstGeom prst="roundRect">
            <a:avLst>
              <a:gd name="adj" fmla="val 50000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201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i="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Prácticas / Estrategias</a:t>
            </a:r>
            <a:endParaRPr sz="1800" i="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128" name="Google Shape;128;p12"/>
          <p:cNvSpPr txBox="1"/>
          <p:nvPr/>
        </p:nvSpPr>
        <p:spPr>
          <a:xfrm>
            <a:off x="4814056" y="6096262"/>
            <a:ext cx="2221200" cy="20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2400" i="0" u="none" strike="noStrike" cap="none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Elija el ciclo de vida adecuado a su forma de trabajo.</a:t>
            </a:r>
            <a:endParaRPr sz="24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8043109" y="6096262"/>
            <a:ext cx="2221200" cy="20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2400" i="0" u="none" strike="noStrike" cap="none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Colección de puntos de decisión.</a:t>
            </a:r>
            <a:endParaRPr sz="24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11272150" y="6096262"/>
            <a:ext cx="2221200" cy="20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2400" i="0" u="none" strike="noStrike" cap="none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Identificar que posibles estrategias y7o buenas prácticas se pueden usar</a:t>
            </a:r>
            <a:endParaRPr sz="24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5660074" y="3664341"/>
            <a:ext cx="642020" cy="641393"/>
          </a:xfrm>
          <a:custGeom>
            <a:avLst/>
            <a:gdLst/>
            <a:ahLst/>
            <a:cxnLst/>
            <a:rect l="l" t="t" r="r" b="b"/>
            <a:pathLst>
              <a:path w="11264" h="11253" extrusionOk="0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12"/>
          <p:cNvGrpSpPr/>
          <p:nvPr/>
        </p:nvGrpSpPr>
        <p:grpSpPr>
          <a:xfrm>
            <a:off x="8819973" y="3714961"/>
            <a:ext cx="667493" cy="656379"/>
            <a:chOff x="860940" y="2746477"/>
            <a:chExt cx="371883" cy="365691"/>
          </a:xfrm>
        </p:grpSpPr>
        <p:sp>
          <p:nvSpPr>
            <p:cNvPr id="138" name="Google Shape;138;p12"/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2"/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2"/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2"/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2"/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2"/>
          <p:cNvGrpSpPr/>
          <p:nvPr/>
        </p:nvGrpSpPr>
        <p:grpSpPr>
          <a:xfrm>
            <a:off x="12050418" y="3714964"/>
            <a:ext cx="682767" cy="651760"/>
            <a:chOff x="4126815" y="2760704"/>
            <a:chExt cx="380393" cy="363118"/>
          </a:xfrm>
        </p:grpSpPr>
        <p:sp>
          <p:nvSpPr>
            <p:cNvPr id="144" name="Google Shape;144;p12"/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2"/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2"/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2"/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0" name="Google Shape;170;p12"/>
          <p:cNvCxnSpPr/>
          <p:nvPr/>
        </p:nvCxnSpPr>
        <p:spPr>
          <a:xfrm>
            <a:off x="6804248" y="4052492"/>
            <a:ext cx="1470000" cy="0"/>
          </a:xfrm>
          <a:prstGeom prst="straightConnector1">
            <a:avLst/>
          </a:prstGeom>
          <a:noFill/>
          <a:ln w="28575" cap="flat" cmpd="sng">
            <a:solidFill>
              <a:srgbClr val="FBBC05"/>
            </a:solidFill>
            <a:prstDash val="solid"/>
            <a:round/>
            <a:headEnd type="diamond" w="sm" len="sm"/>
            <a:tailEnd type="diamond" w="sm" len="sm"/>
          </a:ln>
        </p:spPr>
      </p:cxnSp>
      <p:sp>
        <p:nvSpPr>
          <p:cNvPr id="171" name="Google Shape;171;p12"/>
          <p:cNvSpPr txBox="1"/>
          <p:nvPr/>
        </p:nvSpPr>
        <p:spPr>
          <a:xfrm>
            <a:off x="1466850" y="2124338"/>
            <a:ext cx="1535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419" sz="5000" dirty="0">
                <a:latin typeface="Roboto Slab Black"/>
                <a:ea typeface="Roboto Slab Black"/>
                <a:cs typeface="Roboto Slab Black"/>
                <a:sym typeface="Roboto Slab Black"/>
              </a:rPr>
              <a:t>!Elija su forma de trabajo¡</a:t>
            </a:r>
            <a:endParaRPr sz="500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cxnSp>
        <p:nvCxnSpPr>
          <p:cNvPr id="172" name="Google Shape;172;p12"/>
          <p:cNvCxnSpPr/>
          <p:nvPr/>
        </p:nvCxnSpPr>
        <p:spPr>
          <a:xfrm>
            <a:off x="10033298" y="4052492"/>
            <a:ext cx="1470000" cy="0"/>
          </a:xfrm>
          <a:prstGeom prst="straightConnector1">
            <a:avLst/>
          </a:prstGeom>
          <a:noFill/>
          <a:ln w="28575" cap="flat" cmpd="sng">
            <a:solidFill>
              <a:srgbClr val="FBBC05"/>
            </a:solidFill>
            <a:prstDash val="solid"/>
            <a:round/>
            <a:headEnd type="diamond" w="sm" len="sm"/>
            <a:tailEnd type="diamond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E84A014C-E0A7-665D-2D8F-A22B0B89ECAE}"/>
              </a:ext>
            </a:extLst>
          </p:cNvPr>
          <p:cNvSpPr/>
          <p:nvPr/>
        </p:nvSpPr>
        <p:spPr>
          <a:xfrm>
            <a:off x="1747419" y="1934373"/>
            <a:ext cx="16036695" cy="7007552"/>
          </a:xfrm>
          <a:custGeom>
            <a:avLst/>
            <a:gdLst/>
            <a:ahLst/>
            <a:cxnLst/>
            <a:rect l="l" t="t" r="r" b="b"/>
            <a:pathLst>
              <a:path w="23300310" h="13004800">
                <a:moveTo>
                  <a:pt x="0" y="0"/>
                </a:moveTo>
                <a:lnTo>
                  <a:pt x="23300310" y="0"/>
                </a:lnTo>
                <a:lnTo>
                  <a:pt x="23300310" y="13004800"/>
                </a:lnTo>
                <a:lnTo>
                  <a:pt x="0" y="130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317" b="-15673"/>
            </a:stretch>
          </a:blipFill>
        </p:spPr>
        <p:txBody>
          <a:bodyPr/>
          <a:lstStyle/>
          <a:p>
            <a:endParaRPr lang="es-419" sz="1466"/>
          </a:p>
        </p:txBody>
      </p:sp>
    </p:spTree>
    <p:extLst>
      <p:ext uri="{BB962C8B-B14F-4D97-AF65-F5344CB8AC3E}">
        <p14:creationId xmlns:p14="http://schemas.microsoft.com/office/powerpoint/2010/main" val="2701506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0217" y="2264634"/>
            <a:ext cx="16354769" cy="7118647"/>
            <a:chOff x="0" y="3832919"/>
            <a:chExt cx="23300310" cy="9171879"/>
          </a:xfrm>
        </p:grpSpPr>
        <p:sp>
          <p:nvSpPr>
            <p:cNvPr id="3" name="Freeform 3"/>
            <p:cNvSpPr/>
            <p:nvPr/>
          </p:nvSpPr>
          <p:spPr>
            <a:xfrm>
              <a:off x="0" y="3832919"/>
              <a:ext cx="23300310" cy="9171879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1790"/>
              </a:stretch>
            </a:blipFill>
          </p:spPr>
          <p:txBody>
            <a:bodyPr/>
            <a:lstStyle/>
            <a:p>
              <a:endParaRPr lang="es-419" sz="1466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9249" y="1854437"/>
            <a:ext cx="14929502" cy="7605756"/>
            <a:chOff x="1" y="696138"/>
            <a:chExt cx="23121620" cy="11390256"/>
          </a:xfrm>
        </p:grpSpPr>
        <p:sp>
          <p:nvSpPr>
            <p:cNvPr id="3" name="Freeform 3"/>
            <p:cNvSpPr/>
            <p:nvPr/>
          </p:nvSpPr>
          <p:spPr>
            <a:xfrm>
              <a:off x="1" y="696138"/>
              <a:ext cx="23121620" cy="11390256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12" r="-772" b="-8063"/>
              </a:stretch>
            </a:blipFill>
          </p:spPr>
          <p:txBody>
            <a:bodyPr/>
            <a:lstStyle/>
            <a:p>
              <a:endParaRPr lang="es-419" sz="1466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8;p12">
            <a:extLst>
              <a:ext uri="{FF2B5EF4-FFF2-40B4-BE49-F238E27FC236}">
                <a16:creationId xmlns:a16="http://schemas.microsoft.com/office/drawing/2014/main" id="{7A9856F2-4CC4-B266-EB1F-0D9BEF4CC98B}"/>
              </a:ext>
            </a:extLst>
          </p:cNvPr>
          <p:cNvSpPr/>
          <p:nvPr/>
        </p:nvSpPr>
        <p:spPr>
          <a:xfrm>
            <a:off x="6137940" y="959585"/>
            <a:ext cx="4997230" cy="971764"/>
          </a:xfrm>
          <a:prstGeom prst="roundRect">
            <a:avLst>
              <a:gd name="adj" fmla="val 50000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201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2800" i="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Ciclo  de vida</a:t>
            </a:r>
            <a:endParaRPr sz="2800" i="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9AAB3A-1245-8110-5B78-3E304592B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256" y="2648402"/>
            <a:ext cx="2546636" cy="2819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DD4FB2-18C6-BC57-95C6-EB762BC2B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390" y="2683536"/>
            <a:ext cx="3692496" cy="2819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223612-28E5-3150-C9BD-4D6C6B887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247" y="2648402"/>
            <a:ext cx="2577685" cy="28892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E111AB-8A07-F158-02D3-DC5D6A372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681" y="6280350"/>
            <a:ext cx="2355709" cy="27863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D4F70F-7A84-521B-4316-2445E98B9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0150" y="6077659"/>
            <a:ext cx="3496306" cy="319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9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9684" y="1939895"/>
            <a:ext cx="15365351" cy="7503207"/>
            <a:chOff x="0" y="994730"/>
            <a:chExt cx="23300309" cy="10827238"/>
          </a:xfrm>
        </p:grpSpPr>
        <p:sp>
          <p:nvSpPr>
            <p:cNvPr id="3" name="Freeform 3"/>
            <p:cNvSpPr/>
            <p:nvPr/>
          </p:nvSpPr>
          <p:spPr>
            <a:xfrm>
              <a:off x="0" y="994730"/>
              <a:ext cx="23300309" cy="10827238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187" b="-10924"/>
              </a:stretch>
            </a:blipFill>
          </p:spPr>
          <p:txBody>
            <a:bodyPr/>
            <a:lstStyle/>
            <a:p>
              <a:endParaRPr lang="es-419" sz="1466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8799" y="1709158"/>
            <a:ext cx="15493527" cy="7802309"/>
            <a:chOff x="1011846" y="878768"/>
            <a:chExt cx="20345716" cy="10281658"/>
          </a:xfrm>
        </p:grpSpPr>
        <p:sp>
          <p:nvSpPr>
            <p:cNvPr id="3" name="Freeform 3"/>
            <p:cNvSpPr/>
            <p:nvPr/>
          </p:nvSpPr>
          <p:spPr>
            <a:xfrm>
              <a:off x="1011846" y="878768"/>
              <a:ext cx="20345716" cy="10281658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73" t="-8547" r="-9549" b="-17938"/>
              </a:stretch>
            </a:blipFill>
          </p:spPr>
          <p:txBody>
            <a:bodyPr/>
            <a:lstStyle/>
            <a:p>
              <a:endParaRPr lang="es-419" sz="1466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240AEE9-3237-3CED-EB17-4234C24DAE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8" t="23439" r="5643" b="3088"/>
          <a:stretch>
            <a:fillRect/>
          </a:stretch>
        </p:blipFill>
        <p:spPr bwMode="auto">
          <a:xfrm>
            <a:off x="1642990" y="2222694"/>
            <a:ext cx="13828616" cy="6260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311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91D843-3158-542A-6689-93C2B7B74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914" y="1008385"/>
            <a:ext cx="9535128" cy="8186890"/>
          </a:xfrm>
          <a:prstGeom prst="rect">
            <a:avLst/>
          </a:prstGeom>
        </p:spPr>
      </p:pic>
      <p:sp>
        <p:nvSpPr>
          <p:cNvPr id="2" name="Google Shape;121;p12">
            <a:extLst>
              <a:ext uri="{FF2B5EF4-FFF2-40B4-BE49-F238E27FC236}">
                <a16:creationId xmlns:a16="http://schemas.microsoft.com/office/drawing/2014/main" id="{111EB7D8-ACC2-1431-66B5-D5AD8161DD06}"/>
              </a:ext>
            </a:extLst>
          </p:cNvPr>
          <p:cNvSpPr/>
          <p:nvPr/>
        </p:nvSpPr>
        <p:spPr>
          <a:xfrm>
            <a:off x="6731528" y="410485"/>
            <a:ext cx="4128730" cy="1010352"/>
          </a:xfrm>
          <a:prstGeom prst="roundRect">
            <a:avLst>
              <a:gd name="adj" fmla="val 50000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201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2800" i="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Meta del proceso</a:t>
            </a:r>
            <a:endParaRPr sz="2800" i="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</p:spTree>
    <p:extLst>
      <p:ext uri="{BB962C8B-B14F-4D97-AF65-F5344CB8AC3E}">
        <p14:creationId xmlns:p14="http://schemas.microsoft.com/office/powerpoint/2010/main" val="1444150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CC36E6-1D73-F19F-480C-51011D1D8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324" y="2030281"/>
            <a:ext cx="15828685" cy="6840253"/>
          </a:xfrm>
          <a:prstGeom prst="rect">
            <a:avLst/>
          </a:prstGeom>
        </p:spPr>
      </p:pic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DB1EBF92-D860-5263-7E61-38E779A6A320}"/>
              </a:ext>
            </a:extLst>
          </p:cNvPr>
          <p:cNvSpPr/>
          <p:nvPr/>
        </p:nvSpPr>
        <p:spPr>
          <a:xfrm>
            <a:off x="6469635" y="493117"/>
            <a:ext cx="4559435" cy="1293480"/>
          </a:xfrm>
          <a:prstGeom prst="roundRect">
            <a:avLst>
              <a:gd name="adj" fmla="val 50000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201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2800" i="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Prácticas / Estrategias</a:t>
            </a:r>
            <a:endParaRPr sz="2800" i="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</p:spTree>
    <p:extLst>
      <p:ext uri="{BB962C8B-B14F-4D97-AF65-F5344CB8AC3E}">
        <p14:creationId xmlns:p14="http://schemas.microsoft.com/office/powerpoint/2010/main" val="2723754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DB1EBF92-D860-5263-7E61-38E779A6A320}"/>
              </a:ext>
            </a:extLst>
          </p:cNvPr>
          <p:cNvSpPr/>
          <p:nvPr/>
        </p:nvSpPr>
        <p:spPr>
          <a:xfrm>
            <a:off x="6469635" y="493117"/>
            <a:ext cx="4559435" cy="1293480"/>
          </a:xfrm>
          <a:prstGeom prst="roundRect">
            <a:avLst>
              <a:gd name="adj" fmla="val 50000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201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2800" i="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Ejemplo: Coordinar al equipo</a:t>
            </a:r>
            <a:endParaRPr sz="2800" i="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60" y="5029200"/>
            <a:ext cx="3108960" cy="1371600"/>
          </a:xfrm>
          <a:prstGeom prst="roundRect">
            <a:avLst>
              <a:gd name="adj" fmla="val 28000"/>
            </a:avLst>
          </a:prstGeom>
          <a:solidFill>
            <a:srgbClr val="4A3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/>
            <a:r>
              <a:rPr sz="1400">
                <a:solidFill>
                  <a:srgbClr val="D6D1EE"/>
                </a:solidFill>
                <a:latin typeface="Arial"/>
              </a:rPr>
              <a:t>Una Meta del Proceso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Coordinar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al equipo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3200400"/>
            <a:ext cx="3657600" cy="1463040"/>
          </a:xfrm>
          <a:prstGeom prst="roundRect">
            <a:avLst>
              <a:gd name="adj" fmla="val 28000"/>
            </a:avLst>
          </a:prstGeom>
          <a:solidFill>
            <a:srgbClr val="4A3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/>
            <a:r>
              <a:rPr sz="1400">
                <a:solidFill>
                  <a:srgbClr val="D6D1EE"/>
                </a:solidFill>
                <a:latin typeface="Arial"/>
              </a:rPr>
              <a:t>Un Punto de Decisión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¿Cómo nos comunicamos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en el día a día?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6766560"/>
            <a:ext cx="3657600" cy="1463040"/>
          </a:xfrm>
          <a:prstGeom prst="roundRect">
            <a:avLst>
              <a:gd name="adj" fmla="val 28000"/>
            </a:avLst>
          </a:prstGeom>
          <a:solidFill>
            <a:srgbClr val="4A3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/>
          <a:lstStyle/>
          <a:p>
            <a:pPr algn="ctr"/>
            <a:r>
              <a:rPr sz="1400">
                <a:solidFill>
                  <a:srgbClr val="D6D1EE"/>
                </a:solidFill>
                <a:latin typeface="Arial"/>
              </a:rPr>
              <a:t>Otro Punto de Decisión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¿Qué software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usaremos para chatear?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931920" y="3931920"/>
            <a:ext cx="822960" cy="178308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31920" y="5715000"/>
            <a:ext cx="822960" cy="1783079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12480" y="3931920"/>
            <a:ext cx="7315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7498079"/>
            <a:ext cx="731520" cy="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eft Bracket 9"/>
          <p:cNvSpPr/>
          <p:nvPr/>
        </p:nvSpPr>
        <p:spPr>
          <a:xfrm>
            <a:off x="9144000" y="2788920"/>
            <a:ext cx="228600" cy="2286000"/>
          </a:xfrm>
          <a:prstGeom prst="leftBracket">
            <a:avLst/>
          </a:prstGeom>
          <a:noFill/>
          <a:ln w="222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eft Bracket 10"/>
          <p:cNvSpPr/>
          <p:nvPr/>
        </p:nvSpPr>
        <p:spPr>
          <a:xfrm>
            <a:off x="9144000" y="6446520"/>
            <a:ext cx="228600" cy="2103120"/>
          </a:xfrm>
          <a:prstGeom prst="leftBracket">
            <a:avLst/>
          </a:prstGeom>
          <a:noFill/>
          <a:ln w="222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Up Arrow 11"/>
          <p:cNvSpPr/>
          <p:nvPr/>
        </p:nvSpPr>
        <p:spPr>
          <a:xfrm>
            <a:off x="9464040" y="2880360"/>
            <a:ext cx="310896" cy="2103120"/>
          </a:xfrm>
          <a:prstGeom prst="upArrow">
            <a:avLst>
              <a:gd name="adj1" fmla="val 42000"/>
              <a:gd name="adj2" fmla="val 42000"/>
            </a:avLst>
          </a:prstGeom>
          <a:solidFill>
            <a:srgbClr val="4A3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60" y="2788920"/>
            <a:ext cx="758952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Arial"/>
              </a:rPr>
              <a:t>Reuniones diarias de pie (daily stand-up): la estrategia más deseable</a:t>
            </a:r>
          </a:p>
          <a:p>
            <a:pPr algn="l">
              <a:spcAft>
                <a:spcPts val="1000"/>
              </a:spcAft>
            </a:pPr>
            <a:r>
              <a:rPr sz="1800" b="1" i="1">
                <a:solidFill>
                  <a:srgbClr val="262626"/>
                </a:solidFill>
                <a:latin typeface="Arial"/>
              </a:rPr>
              <a:t>Reuniones semanales de avance: buen punto de partida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Arial"/>
              </a:rPr>
              <a:t>Reportes de avance por correo: la estrategia menos deseable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6446520"/>
            <a:ext cx="7589520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Arial"/>
              </a:rPr>
              <a:t>Opción 1: Microsoft Teams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Arial"/>
              </a:rPr>
              <a:t>Opción 2: Slack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Arial"/>
              </a:rPr>
              <a:t>Opción 3: Google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0574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10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Lista de Opciones Ordenada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46720" y="2377440"/>
            <a:ext cx="1143000" cy="365760"/>
          </a:xfrm>
          <a:prstGeom prst="line">
            <a:avLst/>
          </a:prstGeom>
          <a:ln w="15875">
            <a:solidFill>
              <a:srgbClr val="595959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66160" y="87782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10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Lista de Opciones Desordenada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046720" y="8549640"/>
            <a:ext cx="1143000" cy="365760"/>
          </a:xfrm>
          <a:prstGeom prst="line">
            <a:avLst/>
          </a:prstGeom>
          <a:ln w="15875">
            <a:solidFill>
              <a:srgbClr val="595959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0363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>
          <a:extLst>
            <a:ext uri="{FF2B5EF4-FFF2-40B4-BE49-F238E27FC236}">
              <a16:creationId xmlns:a16="http://schemas.microsoft.com/office/drawing/2014/main" id="{4A121D27-8BC3-7282-4897-A47A27FD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>
            <a:extLst>
              <a:ext uri="{FF2B5EF4-FFF2-40B4-BE49-F238E27FC236}">
                <a16:creationId xmlns:a16="http://schemas.microsoft.com/office/drawing/2014/main" id="{33A683E0-69B4-D658-CFBC-008F0B119033}"/>
              </a:ext>
            </a:extLst>
          </p:cNvPr>
          <p:cNvSpPr txBox="1"/>
          <p:nvPr/>
        </p:nvSpPr>
        <p:spPr>
          <a:xfrm>
            <a:off x="1466850" y="2478338"/>
            <a:ext cx="1535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419" sz="5000" u="none" strike="noStrike" cap="none">
                <a:latin typeface="Roboto Slab Black"/>
                <a:ea typeface="Roboto Slab Black"/>
                <a:cs typeface="Roboto Slab Black"/>
                <a:sym typeface="Roboto Slab Black"/>
              </a:rPr>
              <a:t>Objetivo de sesión aquí</a:t>
            </a:r>
            <a:endParaRPr sz="5000" u="none" strike="noStrike" cap="none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26" name="Google Shape;26;p7">
            <a:extLst>
              <a:ext uri="{FF2B5EF4-FFF2-40B4-BE49-F238E27FC236}">
                <a16:creationId xmlns:a16="http://schemas.microsoft.com/office/drawing/2014/main" id="{45D64F5E-BDC0-D099-BF7C-1475075DB69F}"/>
              </a:ext>
            </a:extLst>
          </p:cNvPr>
          <p:cNvSpPr txBox="1"/>
          <p:nvPr/>
        </p:nvSpPr>
        <p:spPr>
          <a:xfrm>
            <a:off x="5641663" y="4308821"/>
            <a:ext cx="7004700" cy="3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800" i="0" u="none" strike="noStrike" cap="none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Al finalizar la sesión, el estudiante será capaz de explicar los fundamentos estratégicos de la dirección de proyectos, diferenciando el sistema de entrega de valor, los enfoques predictivo, ágil e híbrido (WoW), y su relación con la alineación estratégica del proyecto para identificar cómo estas decisiones contribuyen a la generación de valor en la organización.</a:t>
            </a:r>
            <a:endParaRPr sz="18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" name="Google Shape;27;p7">
            <a:extLst>
              <a:ext uri="{FF2B5EF4-FFF2-40B4-BE49-F238E27FC236}">
                <a16:creationId xmlns:a16="http://schemas.microsoft.com/office/drawing/2014/main" id="{735D2D57-8AC4-67B1-55EC-82F498E8B0B2}"/>
              </a:ext>
            </a:extLst>
          </p:cNvPr>
          <p:cNvSpPr/>
          <p:nvPr/>
        </p:nvSpPr>
        <p:spPr>
          <a:xfrm>
            <a:off x="5116188" y="4044350"/>
            <a:ext cx="326537" cy="3764310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Google Shape;28;p7">
            <a:extLst>
              <a:ext uri="{FF2B5EF4-FFF2-40B4-BE49-F238E27FC236}">
                <a16:creationId xmlns:a16="http://schemas.microsoft.com/office/drawing/2014/main" id="{25666EDE-5231-7670-9903-27DD939DD9D0}"/>
              </a:ext>
            </a:extLst>
          </p:cNvPr>
          <p:cNvSpPr/>
          <p:nvPr/>
        </p:nvSpPr>
        <p:spPr>
          <a:xfrm rot="10800000">
            <a:off x="12845276" y="3972965"/>
            <a:ext cx="326537" cy="3764310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931787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1922F4-FE39-FF5C-2C90-71801EA64A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78" t="2553" r="4974" b="36867"/>
          <a:stretch>
            <a:fillRect/>
          </a:stretch>
        </p:blipFill>
        <p:spPr>
          <a:xfrm>
            <a:off x="2124221" y="2110153"/>
            <a:ext cx="15042439" cy="744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09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"/>
          <p:cNvSpPr txBox="1"/>
          <p:nvPr/>
        </p:nvSpPr>
        <p:spPr>
          <a:xfrm>
            <a:off x="1466851" y="631991"/>
            <a:ext cx="1535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419" sz="5000" dirty="0">
                <a:latin typeface="Roboto Slab Black"/>
                <a:ea typeface="Roboto Slab Black"/>
                <a:cs typeface="Roboto Slab Black"/>
                <a:sym typeface="Roboto Slab Black"/>
              </a:rPr>
              <a:t>Conclusiones:</a:t>
            </a:r>
            <a:endParaRPr sz="500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610" y="1401630"/>
            <a:ext cx="14398488" cy="803165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64FB48-7F7E-8CBD-C888-67A6E9B6FAD1}"/>
              </a:ext>
            </a:extLst>
          </p:cNvPr>
          <p:cNvSpPr txBox="1"/>
          <p:nvPr/>
        </p:nvSpPr>
        <p:spPr>
          <a:xfrm>
            <a:off x="1589517" y="2279635"/>
            <a:ext cx="1373309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419" sz="2800" dirty="0"/>
              <a:t> </a:t>
            </a:r>
            <a:r>
              <a:rPr lang="es-419" sz="2800" dirty="0" err="1"/>
              <a:t>Ambler</a:t>
            </a:r>
            <a:r>
              <a:rPr lang="es-419" sz="2800" dirty="0"/>
              <a:t>, S. W., &amp; </a:t>
            </a:r>
            <a:r>
              <a:rPr lang="es-419" sz="2800" dirty="0" err="1"/>
              <a:t>Lines</a:t>
            </a:r>
            <a:r>
              <a:rPr lang="es-419" sz="2800" dirty="0"/>
              <a:t>, M. (2023). ¡Elija su WoW! Un enfoque de </a:t>
            </a:r>
            <a:r>
              <a:rPr lang="es-419" sz="2800" dirty="0" err="1"/>
              <a:t>Disciplined</a:t>
            </a:r>
            <a:r>
              <a:rPr lang="es-419" sz="2800" dirty="0"/>
              <a:t> Agile para optimizar su forma de trabajar (2.ª ed.). Project Management </a:t>
            </a:r>
            <a:r>
              <a:rPr lang="es-419" sz="2800" dirty="0" err="1"/>
              <a:t>Institute</a:t>
            </a:r>
            <a:r>
              <a:rPr lang="es-419" sz="2800" dirty="0"/>
              <a:t>, Inc.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Project Management Institute. (2025). The standard for project management and a guide to the project management body of knowledge (PMBOK guide) (8th ed.)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419" sz="2800" dirty="0"/>
          </a:p>
        </p:txBody>
      </p:sp>
      <p:sp>
        <p:nvSpPr>
          <p:cNvPr id="4" name="Google Shape;427;p15">
            <a:extLst>
              <a:ext uri="{FF2B5EF4-FFF2-40B4-BE49-F238E27FC236}">
                <a16:creationId xmlns:a16="http://schemas.microsoft.com/office/drawing/2014/main" id="{C19A1994-D725-61B2-721F-2946CA601C85}"/>
              </a:ext>
            </a:extLst>
          </p:cNvPr>
          <p:cNvSpPr txBox="1"/>
          <p:nvPr/>
        </p:nvSpPr>
        <p:spPr>
          <a:xfrm>
            <a:off x="1159203" y="1081943"/>
            <a:ext cx="1535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PE" sz="5000" b="0" i="0" u="none" strike="noStrike" cap="none" dirty="0">
                <a:solidFill>
                  <a:srgbClr val="00B0F0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Bibliografía</a:t>
            </a:r>
            <a:r>
              <a:rPr lang="es-PE" sz="5000" dirty="0">
                <a:solidFill>
                  <a:srgbClr val="00B0F0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:</a:t>
            </a:r>
            <a:endParaRPr sz="5000" b="0" i="0" u="none" strike="noStrike" cap="none" dirty="0">
              <a:solidFill>
                <a:srgbClr val="00B0F0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EFA1D4-528D-80D5-3E73-24147D0B1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000" b="0" i="0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Dharma Consulting. (2023, 20 de junio). </a:t>
            </a:r>
            <a:r>
              <a:rPr kumimoji="0" lang="es-PE" altLang="es-PE" sz="1000" b="0" i="1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Creando el Acta de Constitución del Equipo: Estableciendo un sólido fundamento para la colaboración en proyectos</a:t>
            </a:r>
            <a:r>
              <a:rPr kumimoji="0" lang="es-PE" altLang="es-PE" sz="1000" b="0" i="0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000" b="0" i="0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El Equipo Miro. (2025, 10 de octubre). </a:t>
            </a:r>
            <a:r>
              <a:rPr kumimoji="0" lang="es-PE" altLang="es-PE" sz="1000" b="0" i="1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Aprende a hacer un team charter que funcione</a:t>
            </a:r>
            <a:r>
              <a:rPr kumimoji="0" lang="es-PE" altLang="es-PE" sz="1000" b="0" i="0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. Miro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169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1828868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0"/>
          <p:cNvSpPr txBox="1"/>
          <p:nvPr/>
        </p:nvSpPr>
        <p:spPr>
          <a:xfrm>
            <a:off x="1125336" y="2609345"/>
            <a:ext cx="5773608" cy="1617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200"/>
            </a:pPr>
            <a:r>
              <a:rPr lang="en-US" sz="33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“There is nothing impossible to they who will try.”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2200"/>
            </a:pPr>
            <a:r>
              <a:rPr lang="en-US" sz="33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Alexander the Great</a:t>
            </a:r>
            <a:endParaRPr sz="33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 txBox="1"/>
          <p:nvPr/>
        </p:nvSpPr>
        <p:spPr>
          <a:xfrm>
            <a:off x="4012140" y="990600"/>
            <a:ext cx="5773608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>
              <a:buSzPts val="1800"/>
            </a:pP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 txBox="1"/>
          <p:nvPr/>
        </p:nvSpPr>
        <p:spPr>
          <a:xfrm>
            <a:off x="1125336" y="1075895"/>
            <a:ext cx="5773608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>
              <a:buSzPts val="4400"/>
            </a:pPr>
            <a:r>
              <a:rPr lang="en-US" sz="6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 </a:t>
            </a:r>
            <a:endParaRPr lang="en-US" sz="2100"/>
          </a:p>
        </p:txBody>
      </p:sp>
      <p:pic>
        <p:nvPicPr>
          <p:cNvPr id="465" name="Google Shape;465;p20"/>
          <p:cNvPicPr preferRelativeResize="0"/>
          <p:nvPr/>
        </p:nvPicPr>
        <p:blipFill rotWithShape="1">
          <a:blip r:embed="rId4">
            <a:alphaModFix/>
          </a:blip>
          <a:srcRect t="-1912" r="54024"/>
          <a:stretch/>
        </p:blipFill>
        <p:spPr>
          <a:xfrm>
            <a:off x="261999" y="7821195"/>
            <a:ext cx="2913555" cy="161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864</Words>
  <Application>Microsoft Office PowerPoint</Application>
  <PresentationFormat>Personalizado</PresentationFormat>
  <Paragraphs>80</Paragraphs>
  <Slides>35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3" baseType="lpstr">
      <vt:lpstr>Roboto Slab</vt:lpstr>
      <vt:lpstr>Roboto</vt:lpstr>
      <vt:lpstr>Arial</vt:lpstr>
      <vt:lpstr>Tiro Devanagari Marathi</vt:lpstr>
      <vt:lpstr>Calibri</vt:lpstr>
      <vt:lpstr>Roboto Slab Black</vt:lpstr>
      <vt:lpstr>Google Sans Text</vt:lpstr>
      <vt:lpstr>Tema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Docente - Daniel Enrique Pantoja Diaz</cp:lastModifiedBy>
  <cp:revision>8</cp:revision>
  <dcterms:modified xsi:type="dcterms:W3CDTF">2026-08-21T19:44:17Z</dcterms:modified>
</cp:coreProperties>
</file>