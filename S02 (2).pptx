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52" r:id="rId1"/>
  </p:sldMasterIdLst>
  <p:notesMasterIdLst>
    <p:notesMasterId r:id="rId33"/>
  </p:notesMasterIdLst>
  <p:sldIdLst>
    <p:sldId id="256" r:id="rId2"/>
    <p:sldId id="257" r:id="rId3"/>
    <p:sldId id="431" r:id="rId4"/>
    <p:sldId id="449" r:id="rId5"/>
    <p:sldId id="274" r:id="rId6"/>
    <p:sldId id="258" r:id="rId7"/>
    <p:sldId id="261" r:id="rId8"/>
    <p:sldId id="445" r:id="rId9"/>
    <p:sldId id="446" r:id="rId10"/>
    <p:sldId id="447" r:id="rId11"/>
    <p:sldId id="448" r:id="rId12"/>
    <p:sldId id="453" r:id="rId13"/>
    <p:sldId id="263" r:id="rId14"/>
    <p:sldId id="264" r:id="rId15"/>
    <p:sldId id="265" r:id="rId16"/>
    <p:sldId id="266" r:id="rId17"/>
    <p:sldId id="267" r:id="rId18"/>
    <p:sldId id="450" r:id="rId19"/>
    <p:sldId id="451" r:id="rId20"/>
    <p:sldId id="270" r:id="rId21"/>
    <p:sldId id="271" r:id="rId22"/>
    <p:sldId id="272" r:id="rId23"/>
    <p:sldId id="273" r:id="rId24"/>
    <p:sldId id="452" r:id="rId25"/>
    <p:sldId id="455" r:id="rId26"/>
    <p:sldId id="454" r:id="rId27"/>
    <p:sldId id="275" r:id="rId28"/>
    <p:sldId id="268" r:id="rId29"/>
    <p:sldId id="330" r:id="rId30"/>
    <p:sldId id="332" r:id="rId31"/>
    <p:sldId id="269" r:id="rId32"/>
  </p:sldIdLst>
  <p:sldSz cx="18288000" cy="10287000"/>
  <p:notesSz cx="6858000" cy="9144000"/>
  <p:embeddedFontLst>
    <p:embeddedFont>
      <p:font typeface="Roboto Slab" pitchFamily="2" charset="0"/>
      <p:regular r:id="rId34"/>
      <p:bold r:id="rId35"/>
    </p:embeddedFont>
    <p:embeddedFont>
      <p:font typeface="Roboto Slab Black" pitchFamily="2" charset="0"/>
      <p:bold r:id="rId36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3240">
          <p15:clr>
            <a:srgbClr val="747775"/>
          </p15:clr>
        </p15:guide>
        <p15:guide id="2" pos="576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2069" autoAdjust="0"/>
    <p:restoredTop sz="94660"/>
  </p:normalViewPr>
  <p:slideViewPr>
    <p:cSldViewPr snapToGrid="0">
      <p:cViewPr varScale="1">
        <p:scale>
          <a:sx n="70" d="100"/>
          <a:sy n="70" d="100"/>
        </p:scale>
        <p:origin x="978" y="84"/>
      </p:cViewPr>
      <p:guideLst>
        <p:guide orient="horz" pos="3240"/>
        <p:guide pos="576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theme" Target="theme/theme1.xml"/><Relationship Id="rId21" Type="http://schemas.openxmlformats.org/officeDocument/2006/relationships/slide" Target="slides/slide20.xml"/><Relationship Id="rId34" Type="http://schemas.openxmlformats.org/officeDocument/2006/relationships/font" Target="fonts/font1.fnt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notesMaster" Target="notesMasters/notesMaster1.xml"/><Relationship Id="rId38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presProps" Target="presProps.xml"/><Relationship Id="rId40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font" Target="fonts/font3.fntdata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font" Target="fonts/font2.fntdata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marR="0" lvl="0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Google Shape;15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6" name="Google Shape;16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3" name="Google Shape;23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4">
          <a:extLst>
            <a:ext uri="{FF2B5EF4-FFF2-40B4-BE49-F238E27FC236}">
              <a16:creationId xmlns:a16="http://schemas.microsoft.com/office/drawing/2014/main" id="{5DE06893-AB17-8883-AE7C-622F8007ADC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" name="Google Shape;215;p12:notes">
            <a:extLst>
              <a:ext uri="{FF2B5EF4-FFF2-40B4-BE49-F238E27FC236}">
                <a16:creationId xmlns:a16="http://schemas.microsoft.com/office/drawing/2014/main" id="{646B851C-1683-6D75-11C6-9384469DAAF7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16" name="Google Shape;216;p12:notes">
            <a:extLst>
              <a:ext uri="{FF2B5EF4-FFF2-40B4-BE49-F238E27FC236}">
                <a16:creationId xmlns:a16="http://schemas.microsoft.com/office/drawing/2014/main" id="{BD0DF087-54ED-CD11-3586-16F2F21E6D54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4199733123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1" name="Google Shape;31;p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88" name="Google Shape;88;p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">
          <a:extLst>
            <a:ext uri="{FF2B5EF4-FFF2-40B4-BE49-F238E27FC236}">
              <a16:creationId xmlns:a16="http://schemas.microsoft.com/office/drawing/2014/main" id="{A70A3675-22AB-C8AB-7B63-1B75B34CE57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2:notes">
            <a:extLst>
              <a:ext uri="{FF2B5EF4-FFF2-40B4-BE49-F238E27FC236}">
                <a16:creationId xmlns:a16="http://schemas.microsoft.com/office/drawing/2014/main" id="{CAD10115-6891-8760-700F-94BC8792EA80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3" name="Google Shape;23;p2:notes">
            <a:extLst>
              <a:ext uri="{FF2B5EF4-FFF2-40B4-BE49-F238E27FC236}">
                <a16:creationId xmlns:a16="http://schemas.microsoft.com/office/drawing/2014/main" id="{8C6B5560-3377-00AF-71C5-ECF56E3BF6C6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639511357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1" name="Google Shape;331;p1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32" name="Google Shape;332;p1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8" name="Google Shape;458;p2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459" name="Google Shape;459;p2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2" name="Google Shape;352;p1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53" name="Google Shape;353;p1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iseño personalizado 1">
  <p:cSld name="CUSTOM_23">
    <p:spTree>
      <p:nvGrpSpPr>
        <p:cNvPr id="1" name="Shape 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Google Shape;7;p2" title="PPT_Mesa de trabajo 1.png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0"/>
            <a:ext cx="18288000" cy="1028700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iseño personalizado 2">
  <p:cSld name="CUSTOM_24">
    <p:spTree>
      <p:nvGrpSpPr>
        <p:cNvPr id="1" name="Shape 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Google Shape;9;p3" title="PPT-02.png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0"/>
            <a:ext cx="18287980" cy="10287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iseño personalizado 3">
  <p:cSld name="CUSTOM_25">
    <p:spTree>
      <p:nvGrpSpPr>
        <p:cNvPr id="1" name="Shape 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Google Shape;11;p4" title="PPT_Mesa de trabajo 3.png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0"/>
            <a:ext cx="18288000" cy="1028700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iseño personalizado 4">
  <p:cSld name="CUSTOM_26">
    <p:spTree>
      <p:nvGrpSpPr>
        <p:cNvPr id="1" name="Shape 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Google Shape;13;p5" title="PPT_Mesa de trabajo 4.png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0"/>
            <a:ext cx="18288000" cy="1028700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8/20/2026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4785719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iapositiva de título">
  <p:cSld name="Diapositiva de título">
    <p:spTree>
      <p:nvGrpSpPr>
        <p:cNvPr id="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32664995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3" r:id="rId5"/>
    <p:sldLayoutId id="2147483654" r:id="rId6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3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3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3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3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3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3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3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3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3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3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3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3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3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3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jpeg"/><Relationship Id="rId1" Type="http://schemas.openxmlformats.org/officeDocument/2006/relationships/slideLayout" Target="../slideLayouts/slideLayout3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3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3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28.png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6"/>
          <p:cNvSpPr txBox="1"/>
          <p:nvPr/>
        </p:nvSpPr>
        <p:spPr>
          <a:xfrm>
            <a:off x="1299075" y="3536775"/>
            <a:ext cx="7109400" cy="2634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600"/>
              <a:buFont typeface="Arial"/>
              <a:buNone/>
            </a:pPr>
            <a:r>
              <a:rPr lang="es-419" sz="6500" u="none" strike="noStrike" cap="none" dirty="0">
                <a:latin typeface="Roboto Slab Black"/>
                <a:ea typeface="Roboto Slab Black"/>
                <a:cs typeface="Roboto Slab Black"/>
                <a:sym typeface="Roboto Slab Black"/>
              </a:rPr>
              <a:t>Proyecto Preprofesional</a:t>
            </a:r>
            <a:endParaRPr sz="6500" u="none" strike="noStrike" cap="none" dirty="0">
              <a:latin typeface="Roboto Slab Black"/>
              <a:ea typeface="Roboto Slab Black"/>
              <a:cs typeface="Roboto Slab Black"/>
              <a:sym typeface="Roboto Slab Black"/>
            </a:endParaRPr>
          </a:p>
        </p:txBody>
      </p:sp>
      <p:sp>
        <p:nvSpPr>
          <p:cNvPr id="19" name="Google Shape;19;p6"/>
          <p:cNvSpPr txBox="1"/>
          <p:nvPr/>
        </p:nvSpPr>
        <p:spPr>
          <a:xfrm>
            <a:off x="1298975" y="7380475"/>
            <a:ext cx="7109400" cy="268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</a:pPr>
            <a:r>
              <a:rPr lang="es-419" sz="2400" dirty="0">
                <a:solidFill>
                  <a:srgbClr val="FFFFFF"/>
                </a:solidFill>
                <a:latin typeface="Roboto Slab Black"/>
                <a:ea typeface="Roboto Slab Black"/>
                <a:cs typeface="Roboto Slab Black"/>
                <a:sym typeface="Roboto Slab Black"/>
              </a:rPr>
              <a:t>Ing. Daniel Pantoja</a:t>
            </a:r>
            <a:endParaRPr sz="2400" strike="noStrike" cap="none" dirty="0">
              <a:solidFill>
                <a:srgbClr val="FFFFFF"/>
              </a:solidFill>
              <a:latin typeface="Roboto Slab Black"/>
              <a:ea typeface="Roboto Slab Black"/>
              <a:cs typeface="Roboto Slab Black"/>
              <a:sym typeface="Roboto Slab Black"/>
            </a:endParaRPr>
          </a:p>
        </p:txBody>
      </p:sp>
      <p:cxnSp>
        <p:nvCxnSpPr>
          <p:cNvPr id="20" name="Google Shape;20;p6"/>
          <p:cNvCxnSpPr/>
          <p:nvPr/>
        </p:nvCxnSpPr>
        <p:spPr>
          <a:xfrm rot="10800000">
            <a:off x="1299225" y="7110900"/>
            <a:ext cx="3296700" cy="0"/>
          </a:xfrm>
          <a:prstGeom prst="straightConnector1">
            <a:avLst/>
          </a:prstGeom>
          <a:noFill/>
          <a:ln w="38100" cap="flat" cmpd="sng">
            <a:solidFill>
              <a:srgbClr val="FFFFFF"/>
            </a:solidFill>
            <a:prstDash val="solid"/>
            <a:round/>
            <a:headEnd type="diamond" w="sm" len="sm"/>
            <a:tailEnd type="diamond" w="sm" len="sm"/>
          </a:ln>
        </p:spPr>
      </p:cxn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Google Shape;25;p7"/>
          <p:cNvSpPr txBox="1"/>
          <p:nvPr/>
        </p:nvSpPr>
        <p:spPr>
          <a:xfrm>
            <a:off x="1466850" y="2478338"/>
            <a:ext cx="15354300" cy="456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600"/>
              <a:buFont typeface="Arial"/>
              <a:buNone/>
            </a:pPr>
            <a:r>
              <a:rPr lang="es-419" sz="5000" u="none" strike="noStrike" cap="none">
                <a:latin typeface="Roboto Slab Black"/>
                <a:ea typeface="Roboto Slab Black"/>
                <a:cs typeface="Roboto Slab Black"/>
                <a:sym typeface="Roboto Slab Black"/>
              </a:rPr>
              <a:t>Objetivo de sesión aquí</a:t>
            </a:r>
            <a:endParaRPr sz="5000" u="none" strike="noStrike" cap="none">
              <a:latin typeface="Roboto Slab Black"/>
              <a:ea typeface="Roboto Slab Black"/>
              <a:cs typeface="Roboto Slab Black"/>
              <a:sym typeface="Roboto Slab Black"/>
            </a:endParaRPr>
          </a:p>
        </p:txBody>
      </p:sp>
      <p:sp>
        <p:nvSpPr>
          <p:cNvPr id="26" name="Google Shape;26;p7"/>
          <p:cNvSpPr txBox="1"/>
          <p:nvPr/>
        </p:nvSpPr>
        <p:spPr>
          <a:xfrm>
            <a:off x="5641663" y="4308821"/>
            <a:ext cx="7004700" cy="323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es-ES" sz="1800" i="0" u="none" strike="noStrike" cap="none" dirty="0">
                <a:solidFill>
                  <a:srgbClr val="000000"/>
                </a:solidFill>
                <a:latin typeface="Roboto Slab"/>
                <a:ea typeface="Roboto Slab"/>
                <a:cs typeface="Roboto Slab"/>
                <a:sym typeface="Roboto Slab"/>
              </a:rPr>
              <a:t>Al finalizar la sesión, el estudiante será capaz de explicar los fundamentos estratégicos de la dirección de proyectos, diferenciando el sistema de entrega de valor, y su relación con la alineación estratégica del proyecto para identificar cómo estas decisiones contribuyen a la generación de valor en la organización.</a:t>
            </a:r>
            <a:endParaRPr sz="1800" i="0" u="none" strike="noStrike" cap="none" dirty="0">
              <a:solidFill>
                <a:srgbClr val="000000"/>
              </a:solidFill>
              <a:latin typeface="Roboto Slab"/>
              <a:ea typeface="Roboto Slab"/>
              <a:cs typeface="Roboto Slab"/>
              <a:sym typeface="Roboto Slab"/>
            </a:endParaRPr>
          </a:p>
        </p:txBody>
      </p:sp>
      <p:sp>
        <p:nvSpPr>
          <p:cNvPr id="27" name="Google Shape;27;p7"/>
          <p:cNvSpPr/>
          <p:nvPr/>
        </p:nvSpPr>
        <p:spPr>
          <a:xfrm>
            <a:off x="5116188" y="4044350"/>
            <a:ext cx="326537" cy="3764310"/>
          </a:xfrm>
          <a:custGeom>
            <a:avLst/>
            <a:gdLst/>
            <a:ahLst/>
            <a:cxnLst/>
            <a:rect l="l" t="t" r="r" b="b"/>
            <a:pathLst>
              <a:path w="16498" h="136351" extrusionOk="0">
                <a:moveTo>
                  <a:pt x="16498" y="0"/>
                </a:moveTo>
                <a:lnTo>
                  <a:pt x="0" y="0"/>
                </a:lnTo>
                <a:lnTo>
                  <a:pt x="0" y="136351"/>
                </a:lnTo>
                <a:lnTo>
                  <a:pt x="16498" y="136351"/>
                </a:lnTo>
              </a:path>
            </a:pathLst>
          </a:custGeom>
          <a:noFill/>
          <a:ln w="38100" cap="flat" cmpd="sng">
            <a:solidFill>
              <a:srgbClr val="FFFFFF"/>
            </a:solidFill>
            <a:prstDash val="solid"/>
            <a:round/>
            <a:headEnd type="diamond" w="med" len="med"/>
            <a:tailEnd type="diamond" w="med" len="med"/>
          </a:ln>
        </p:spPr>
        <p:txBody>
          <a:bodyPr/>
          <a:lstStyle/>
          <a:p>
            <a:endParaRPr lang="es-419"/>
          </a:p>
        </p:txBody>
      </p:sp>
      <p:sp>
        <p:nvSpPr>
          <p:cNvPr id="28" name="Google Shape;28;p7"/>
          <p:cNvSpPr/>
          <p:nvPr/>
        </p:nvSpPr>
        <p:spPr>
          <a:xfrm rot="10800000">
            <a:off x="12845276" y="3972965"/>
            <a:ext cx="326537" cy="3764310"/>
          </a:xfrm>
          <a:custGeom>
            <a:avLst/>
            <a:gdLst/>
            <a:ahLst/>
            <a:cxnLst/>
            <a:rect l="l" t="t" r="r" b="b"/>
            <a:pathLst>
              <a:path w="16498" h="136351" extrusionOk="0">
                <a:moveTo>
                  <a:pt x="16498" y="0"/>
                </a:moveTo>
                <a:lnTo>
                  <a:pt x="0" y="0"/>
                </a:lnTo>
                <a:lnTo>
                  <a:pt x="0" y="136351"/>
                </a:lnTo>
                <a:lnTo>
                  <a:pt x="16498" y="136351"/>
                </a:lnTo>
              </a:path>
            </a:pathLst>
          </a:custGeom>
          <a:noFill/>
          <a:ln w="38100" cap="flat" cmpd="sng">
            <a:solidFill>
              <a:srgbClr val="FFFFFF"/>
            </a:solidFill>
            <a:prstDash val="solid"/>
            <a:round/>
            <a:headEnd type="diamond" w="med" len="med"/>
            <a:tailEnd type="diamond" w="med" len="med"/>
          </a:ln>
        </p:spPr>
        <p:txBody>
          <a:bodyPr/>
          <a:lstStyle/>
          <a:p>
            <a:endParaRPr lang="es-419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n 4">
            <a:extLst>
              <a:ext uri="{FF2B5EF4-FFF2-40B4-BE49-F238E27FC236}">
                <a16:creationId xmlns:a16="http://schemas.microsoft.com/office/drawing/2014/main" id="{C0049521-8363-EF26-1323-6081F129883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83655" y="1806013"/>
            <a:ext cx="14318211" cy="781628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9585440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n 2">
            <a:extLst>
              <a:ext uri="{FF2B5EF4-FFF2-40B4-BE49-F238E27FC236}">
                <a16:creationId xmlns:a16="http://schemas.microsoft.com/office/drawing/2014/main" id="{4E3BD4F0-23F4-FE30-CFC8-65D66FC77EF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68061" y="1862284"/>
            <a:ext cx="13828583" cy="75490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3664861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17">
          <a:extLst>
            <a:ext uri="{FF2B5EF4-FFF2-40B4-BE49-F238E27FC236}">
              <a16:creationId xmlns:a16="http://schemas.microsoft.com/office/drawing/2014/main" id="{2ABC8A64-3865-8965-D45F-E3F598D881B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8" name="Google Shape;218;p14">
            <a:extLst>
              <a:ext uri="{FF2B5EF4-FFF2-40B4-BE49-F238E27FC236}">
                <a16:creationId xmlns:a16="http://schemas.microsoft.com/office/drawing/2014/main" id="{8C1D15CF-3326-4BE8-B1E9-FFEAADA68C7E}"/>
              </a:ext>
            </a:extLst>
          </p:cNvPr>
          <p:cNvSpPr txBox="1"/>
          <p:nvPr/>
        </p:nvSpPr>
        <p:spPr>
          <a:xfrm>
            <a:off x="3889237" y="4026275"/>
            <a:ext cx="10509600" cy="147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600"/>
              <a:buFont typeface="Arial"/>
              <a:buNone/>
            </a:pPr>
            <a:r>
              <a:rPr lang="es-ES" sz="5500" u="none" strike="noStrike" cap="none" dirty="0">
                <a:latin typeface="Roboto Slab Black"/>
                <a:ea typeface="Roboto Slab Black"/>
                <a:cs typeface="Roboto Slab Black"/>
                <a:sym typeface="Roboto Slab Black"/>
              </a:rPr>
              <a:t>Fundamentos Estratégicos y Generación de Valor</a:t>
            </a:r>
            <a:endParaRPr sz="5500" u="none" strike="noStrike" cap="none" dirty="0">
              <a:latin typeface="Roboto Slab Black"/>
              <a:ea typeface="Roboto Slab Black"/>
              <a:cs typeface="Roboto Slab Black"/>
              <a:sym typeface="Roboto Slab Black"/>
            </a:endParaRPr>
          </a:p>
        </p:txBody>
      </p:sp>
      <p:sp>
        <p:nvSpPr>
          <p:cNvPr id="220" name="Google Shape;220;p14">
            <a:extLst>
              <a:ext uri="{FF2B5EF4-FFF2-40B4-BE49-F238E27FC236}">
                <a16:creationId xmlns:a16="http://schemas.microsoft.com/office/drawing/2014/main" id="{63B71B41-B6FB-CF94-FABE-32E3E695E49B}"/>
              </a:ext>
            </a:extLst>
          </p:cNvPr>
          <p:cNvSpPr/>
          <p:nvPr/>
        </p:nvSpPr>
        <p:spPr>
          <a:xfrm>
            <a:off x="3889075" y="2995122"/>
            <a:ext cx="336724" cy="4296761"/>
          </a:xfrm>
          <a:custGeom>
            <a:avLst/>
            <a:gdLst/>
            <a:ahLst/>
            <a:cxnLst/>
            <a:rect l="l" t="t" r="r" b="b"/>
            <a:pathLst>
              <a:path w="16498" h="136351" extrusionOk="0">
                <a:moveTo>
                  <a:pt x="16498" y="0"/>
                </a:moveTo>
                <a:lnTo>
                  <a:pt x="0" y="0"/>
                </a:lnTo>
                <a:lnTo>
                  <a:pt x="0" y="136351"/>
                </a:lnTo>
                <a:lnTo>
                  <a:pt x="16498" y="136351"/>
                </a:lnTo>
              </a:path>
            </a:pathLst>
          </a:custGeom>
          <a:noFill/>
          <a:ln w="38100" cap="flat" cmpd="sng">
            <a:solidFill>
              <a:srgbClr val="FFFFFF"/>
            </a:solidFill>
            <a:prstDash val="solid"/>
            <a:round/>
            <a:headEnd type="diamond" w="med" len="med"/>
            <a:tailEnd type="diamond" w="med" len="med"/>
          </a:ln>
        </p:spPr>
        <p:txBody>
          <a:bodyPr/>
          <a:lstStyle/>
          <a:p>
            <a:endParaRPr lang="es-419"/>
          </a:p>
        </p:txBody>
      </p:sp>
      <p:sp>
        <p:nvSpPr>
          <p:cNvPr id="221" name="Google Shape;221;p14">
            <a:extLst>
              <a:ext uri="{FF2B5EF4-FFF2-40B4-BE49-F238E27FC236}">
                <a16:creationId xmlns:a16="http://schemas.microsoft.com/office/drawing/2014/main" id="{F128016B-BA94-41F7-7D53-37380131026A}"/>
              </a:ext>
            </a:extLst>
          </p:cNvPr>
          <p:cNvSpPr/>
          <p:nvPr/>
        </p:nvSpPr>
        <p:spPr>
          <a:xfrm rot="10800000">
            <a:off x="14062201" y="2995122"/>
            <a:ext cx="336724" cy="4296761"/>
          </a:xfrm>
          <a:custGeom>
            <a:avLst/>
            <a:gdLst/>
            <a:ahLst/>
            <a:cxnLst/>
            <a:rect l="l" t="t" r="r" b="b"/>
            <a:pathLst>
              <a:path w="16498" h="136351" extrusionOk="0">
                <a:moveTo>
                  <a:pt x="16498" y="0"/>
                </a:moveTo>
                <a:lnTo>
                  <a:pt x="0" y="0"/>
                </a:lnTo>
                <a:lnTo>
                  <a:pt x="0" y="136351"/>
                </a:lnTo>
                <a:lnTo>
                  <a:pt x="16498" y="136351"/>
                </a:lnTo>
              </a:path>
            </a:pathLst>
          </a:custGeom>
          <a:noFill/>
          <a:ln w="38100" cap="flat" cmpd="sng">
            <a:solidFill>
              <a:srgbClr val="FFFFFF"/>
            </a:solidFill>
            <a:prstDash val="solid"/>
            <a:round/>
            <a:headEnd type="diamond" w="med" len="med"/>
            <a:tailEnd type="diamond" w="med" len="med"/>
          </a:ln>
        </p:spPr>
        <p:txBody>
          <a:bodyPr/>
          <a:lstStyle/>
          <a:p>
            <a:endParaRPr lang="es-419"/>
          </a:p>
        </p:txBody>
      </p:sp>
    </p:spTree>
    <p:extLst>
      <p:ext uri="{BB962C8B-B14F-4D97-AF65-F5344CB8AC3E}">
        <p14:creationId xmlns:p14="http://schemas.microsoft.com/office/powerpoint/2010/main" val="280087200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/>
        </p:nvSpPr>
        <p:spPr>
          <a:xfrm>
            <a:off x="8890298" y="4109129"/>
            <a:ext cx="1075800" cy="43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50" tIns="91450" rIns="91450" bIns="91450" anchor="ctr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600"/>
              <a:buFont typeface="Arial"/>
              <a:buNone/>
            </a:pPr>
            <a:r>
              <a:rPr lang="es-419" sz="4600">
                <a:solidFill>
                  <a:srgbClr val="FFFFFF"/>
                </a:solidFill>
                <a:latin typeface="Roboto Slab Black"/>
                <a:ea typeface="Roboto Slab Black"/>
                <a:cs typeface="Roboto Slab Black"/>
                <a:sym typeface="Roboto Slab Black"/>
              </a:rPr>
              <a:t>0</a:t>
            </a:r>
            <a:r>
              <a:rPr lang="es-419" sz="4600" i="0" u="none" strike="noStrike" cap="none">
                <a:solidFill>
                  <a:srgbClr val="FFFFFF"/>
                </a:solidFill>
                <a:latin typeface="Roboto Slab Black"/>
                <a:ea typeface="Roboto Slab Black"/>
                <a:cs typeface="Roboto Slab Black"/>
                <a:sym typeface="Roboto Slab Black"/>
              </a:rPr>
              <a:t>1.</a:t>
            </a:r>
            <a:endParaRPr sz="4600" i="1" u="none" strike="noStrike" cap="none">
              <a:solidFill>
                <a:srgbClr val="FFFFFF"/>
              </a:solidFill>
              <a:latin typeface="Roboto Slab Black"/>
              <a:ea typeface="Roboto Slab Black"/>
              <a:cs typeface="Roboto Slab Black"/>
              <a:sym typeface="Roboto Slab Black"/>
            </a:endParaRPr>
          </a:p>
        </p:txBody>
      </p:sp>
      <p:sp>
        <p:nvSpPr>
          <p:cNvPr id="34" name="Google Shape;34;p8"/>
          <p:cNvSpPr txBox="1"/>
          <p:nvPr/>
        </p:nvSpPr>
        <p:spPr>
          <a:xfrm>
            <a:off x="8460528" y="4728787"/>
            <a:ext cx="1935300" cy="254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</a:pPr>
            <a:r>
              <a:rPr lang="es-ES" sz="1800" dirty="0">
                <a:solidFill>
                  <a:schemeClr val="dk1"/>
                </a:solidFill>
                <a:latin typeface="Roboto Slab"/>
                <a:ea typeface="Roboto Slab"/>
                <a:cs typeface="Roboto Slab"/>
                <a:sym typeface="Roboto Slab"/>
              </a:rPr>
              <a:t>Sistema de entrega de valor y principios de dirección de proyectos</a:t>
            </a:r>
            <a:endParaRPr sz="1800" i="0" u="none" strike="noStrike" cap="none" dirty="0">
              <a:solidFill>
                <a:srgbClr val="000000"/>
              </a:solidFill>
              <a:latin typeface="Roboto Slab"/>
              <a:ea typeface="Roboto Slab"/>
              <a:cs typeface="Roboto Slab"/>
              <a:sym typeface="Roboto Slab"/>
            </a:endParaRPr>
          </a:p>
        </p:txBody>
      </p:sp>
      <p:sp>
        <p:nvSpPr>
          <p:cNvPr id="35" name="Google Shape;35;p8"/>
          <p:cNvSpPr/>
          <p:nvPr/>
        </p:nvSpPr>
        <p:spPr>
          <a:xfrm>
            <a:off x="8130207" y="4332271"/>
            <a:ext cx="284137" cy="2941773"/>
          </a:xfrm>
          <a:custGeom>
            <a:avLst/>
            <a:gdLst/>
            <a:ahLst/>
            <a:cxnLst/>
            <a:rect l="l" t="t" r="r" b="b"/>
            <a:pathLst>
              <a:path w="16498" h="136351" extrusionOk="0">
                <a:moveTo>
                  <a:pt x="16498" y="0"/>
                </a:moveTo>
                <a:lnTo>
                  <a:pt x="0" y="0"/>
                </a:lnTo>
                <a:lnTo>
                  <a:pt x="0" y="136351"/>
                </a:lnTo>
                <a:lnTo>
                  <a:pt x="16498" y="136351"/>
                </a:lnTo>
              </a:path>
            </a:pathLst>
          </a:custGeom>
          <a:noFill/>
          <a:ln w="38100" cap="flat" cmpd="sng">
            <a:solidFill>
              <a:srgbClr val="FFFFFF"/>
            </a:solidFill>
            <a:prstDash val="solid"/>
            <a:round/>
            <a:headEnd type="diamond" w="med" len="med"/>
            <a:tailEnd type="diamond" w="med" len="med"/>
          </a:ln>
        </p:spPr>
        <p:txBody>
          <a:bodyPr/>
          <a:lstStyle/>
          <a:p>
            <a:endParaRPr lang="es-419"/>
          </a:p>
        </p:txBody>
      </p:sp>
      <p:sp>
        <p:nvSpPr>
          <p:cNvPr id="36" name="Google Shape;36;p8"/>
          <p:cNvSpPr/>
          <p:nvPr/>
        </p:nvSpPr>
        <p:spPr>
          <a:xfrm rot="10800000">
            <a:off x="10442045" y="4332236"/>
            <a:ext cx="284137" cy="2941773"/>
          </a:xfrm>
          <a:custGeom>
            <a:avLst/>
            <a:gdLst/>
            <a:ahLst/>
            <a:cxnLst/>
            <a:rect l="l" t="t" r="r" b="b"/>
            <a:pathLst>
              <a:path w="16498" h="136351" extrusionOk="0">
                <a:moveTo>
                  <a:pt x="16498" y="0"/>
                </a:moveTo>
                <a:lnTo>
                  <a:pt x="0" y="0"/>
                </a:lnTo>
                <a:lnTo>
                  <a:pt x="0" y="136351"/>
                </a:lnTo>
                <a:lnTo>
                  <a:pt x="16498" y="136351"/>
                </a:lnTo>
              </a:path>
            </a:pathLst>
          </a:custGeom>
          <a:noFill/>
          <a:ln w="38100" cap="flat" cmpd="sng">
            <a:solidFill>
              <a:srgbClr val="FFFFFF"/>
            </a:solidFill>
            <a:prstDash val="solid"/>
            <a:round/>
            <a:headEnd type="diamond" w="med" len="med"/>
            <a:tailEnd type="diamond" w="med" len="med"/>
          </a:ln>
        </p:spPr>
        <p:txBody>
          <a:bodyPr/>
          <a:lstStyle/>
          <a:p>
            <a:endParaRPr lang="es-419"/>
          </a:p>
        </p:txBody>
      </p:sp>
      <p:sp>
        <p:nvSpPr>
          <p:cNvPr id="37" name="Google Shape;37;p8"/>
          <p:cNvSpPr txBox="1"/>
          <p:nvPr/>
        </p:nvSpPr>
        <p:spPr>
          <a:xfrm>
            <a:off x="1466850" y="2886338"/>
            <a:ext cx="15354300" cy="456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600"/>
              <a:buFont typeface="Arial"/>
              <a:buNone/>
            </a:pPr>
            <a:r>
              <a:rPr lang="es-419" sz="5000" dirty="0">
                <a:latin typeface="Roboto Slab Black"/>
                <a:ea typeface="Roboto Slab Black"/>
                <a:cs typeface="Roboto Slab Black"/>
                <a:sym typeface="Roboto Slab Black"/>
              </a:rPr>
              <a:t>Contenido</a:t>
            </a:r>
            <a:r>
              <a:rPr lang="es-419" sz="5000" u="none" strike="noStrike" cap="none" dirty="0">
                <a:latin typeface="Roboto Slab Black"/>
                <a:ea typeface="Roboto Slab Black"/>
                <a:cs typeface="Roboto Slab Black"/>
                <a:sym typeface="Roboto Slab Black"/>
              </a:rPr>
              <a:t> </a:t>
            </a:r>
            <a:r>
              <a:rPr lang="es-419" sz="5000" dirty="0">
                <a:latin typeface="Roboto Slab Black"/>
                <a:ea typeface="Roboto Slab Black"/>
                <a:cs typeface="Roboto Slab Black"/>
                <a:sym typeface="Roboto Slab Black"/>
              </a:rPr>
              <a:t>de sesión:</a:t>
            </a:r>
            <a:endParaRPr sz="5000" u="none" strike="noStrike" cap="none" dirty="0">
              <a:latin typeface="Roboto Slab Black"/>
              <a:ea typeface="Roboto Slab Black"/>
              <a:cs typeface="Roboto Slab Black"/>
              <a:sym typeface="Roboto Slab Black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11"/>
          <p:cNvSpPr txBox="1"/>
          <p:nvPr/>
        </p:nvSpPr>
        <p:spPr>
          <a:xfrm>
            <a:off x="1365188" y="4187552"/>
            <a:ext cx="4574700" cy="191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600"/>
              <a:buFont typeface="Arial"/>
              <a:buNone/>
            </a:pPr>
            <a:r>
              <a:rPr lang="es-419" sz="20000">
                <a:solidFill>
                  <a:srgbClr val="FFFFFF"/>
                </a:solidFill>
                <a:latin typeface="Roboto Slab Black"/>
                <a:ea typeface="Roboto Slab Black"/>
                <a:cs typeface="Roboto Slab Black"/>
                <a:sym typeface="Roboto Slab Black"/>
              </a:rPr>
              <a:t>01</a:t>
            </a:r>
            <a:r>
              <a:rPr lang="es-419" sz="20000" i="0" strike="noStrike" cap="none">
                <a:solidFill>
                  <a:srgbClr val="FFFFFF"/>
                </a:solidFill>
                <a:latin typeface="Roboto Slab Black"/>
                <a:ea typeface="Roboto Slab Black"/>
                <a:cs typeface="Roboto Slab Black"/>
                <a:sym typeface="Roboto Slab Black"/>
              </a:rPr>
              <a:t>.</a:t>
            </a:r>
            <a:endParaRPr sz="20000" i="1" strike="noStrike" cap="none">
              <a:solidFill>
                <a:srgbClr val="FFFFFF"/>
              </a:solidFill>
              <a:latin typeface="Roboto Slab Black"/>
              <a:ea typeface="Roboto Slab Black"/>
              <a:cs typeface="Roboto Slab Black"/>
              <a:sym typeface="Roboto Slab Black"/>
            </a:endParaRPr>
          </a:p>
        </p:txBody>
      </p:sp>
      <p:grpSp>
        <p:nvGrpSpPr>
          <p:cNvPr id="91" name="Google Shape;91;p11"/>
          <p:cNvGrpSpPr/>
          <p:nvPr/>
        </p:nvGrpSpPr>
        <p:grpSpPr>
          <a:xfrm>
            <a:off x="6709134" y="4536157"/>
            <a:ext cx="872983" cy="1214691"/>
            <a:chOff x="910723" y="1508212"/>
            <a:chExt cx="251660" cy="350166"/>
          </a:xfrm>
        </p:grpSpPr>
        <p:sp>
          <p:nvSpPr>
            <p:cNvPr id="92" name="Google Shape;92;p11"/>
            <p:cNvSpPr/>
            <p:nvPr/>
          </p:nvSpPr>
          <p:spPr>
            <a:xfrm>
              <a:off x="910723" y="1508212"/>
              <a:ext cx="251660" cy="350166"/>
            </a:xfrm>
            <a:custGeom>
              <a:avLst/>
              <a:gdLst/>
              <a:ahLst/>
              <a:cxnLst/>
              <a:rect l="l" t="t" r="r" b="b"/>
              <a:pathLst>
                <a:path w="7907" h="11002" extrusionOk="0">
                  <a:moveTo>
                    <a:pt x="3942" y="334"/>
                  </a:moveTo>
                  <a:cubicBezTo>
                    <a:pt x="4132" y="334"/>
                    <a:pt x="4299" y="441"/>
                    <a:pt x="4394" y="608"/>
                  </a:cubicBezTo>
                  <a:cubicBezTo>
                    <a:pt x="4418" y="644"/>
                    <a:pt x="4466" y="679"/>
                    <a:pt x="4525" y="679"/>
                  </a:cubicBezTo>
                  <a:lnTo>
                    <a:pt x="5132" y="679"/>
                  </a:lnTo>
                  <a:cubicBezTo>
                    <a:pt x="5240" y="679"/>
                    <a:pt x="5311" y="763"/>
                    <a:pt x="5311" y="858"/>
                  </a:cubicBezTo>
                  <a:lnTo>
                    <a:pt x="5311" y="1382"/>
                  </a:lnTo>
                  <a:lnTo>
                    <a:pt x="2573" y="1382"/>
                  </a:lnTo>
                  <a:lnTo>
                    <a:pt x="2573" y="858"/>
                  </a:lnTo>
                  <a:cubicBezTo>
                    <a:pt x="2573" y="751"/>
                    <a:pt x="2668" y="679"/>
                    <a:pt x="2751" y="679"/>
                  </a:cubicBezTo>
                  <a:lnTo>
                    <a:pt x="3358" y="679"/>
                  </a:lnTo>
                  <a:cubicBezTo>
                    <a:pt x="3418" y="679"/>
                    <a:pt x="3466" y="644"/>
                    <a:pt x="3501" y="608"/>
                  </a:cubicBezTo>
                  <a:cubicBezTo>
                    <a:pt x="3585" y="441"/>
                    <a:pt x="3763" y="334"/>
                    <a:pt x="3942" y="334"/>
                  </a:cubicBezTo>
                  <a:close/>
                  <a:moveTo>
                    <a:pt x="7240" y="1013"/>
                  </a:moveTo>
                  <a:cubicBezTo>
                    <a:pt x="7442" y="1013"/>
                    <a:pt x="7609" y="1179"/>
                    <a:pt x="7609" y="1370"/>
                  </a:cubicBezTo>
                  <a:lnTo>
                    <a:pt x="7609" y="10323"/>
                  </a:lnTo>
                  <a:lnTo>
                    <a:pt x="7585" y="10323"/>
                  </a:lnTo>
                  <a:cubicBezTo>
                    <a:pt x="7585" y="10514"/>
                    <a:pt x="7430" y="10681"/>
                    <a:pt x="7228" y="10681"/>
                  </a:cubicBezTo>
                  <a:lnTo>
                    <a:pt x="691" y="10681"/>
                  </a:lnTo>
                  <a:cubicBezTo>
                    <a:pt x="501" y="10681"/>
                    <a:pt x="334" y="10514"/>
                    <a:pt x="334" y="10323"/>
                  </a:cubicBezTo>
                  <a:lnTo>
                    <a:pt x="334" y="1370"/>
                  </a:lnTo>
                  <a:cubicBezTo>
                    <a:pt x="334" y="1179"/>
                    <a:pt x="501" y="1013"/>
                    <a:pt x="691" y="1013"/>
                  </a:cubicBezTo>
                  <a:lnTo>
                    <a:pt x="2263" y="1013"/>
                  </a:lnTo>
                  <a:lnTo>
                    <a:pt x="2263" y="1537"/>
                  </a:lnTo>
                  <a:cubicBezTo>
                    <a:pt x="2263" y="1632"/>
                    <a:pt x="2335" y="1703"/>
                    <a:pt x="2418" y="1703"/>
                  </a:cubicBezTo>
                  <a:lnTo>
                    <a:pt x="5525" y="1703"/>
                  </a:lnTo>
                  <a:cubicBezTo>
                    <a:pt x="5609" y="1703"/>
                    <a:pt x="5680" y="1632"/>
                    <a:pt x="5680" y="1537"/>
                  </a:cubicBezTo>
                  <a:lnTo>
                    <a:pt x="5680" y="1013"/>
                  </a:lnTo>
                  <a:close/>
                  <a:moveTo>
                    <a:pt x="3954" y="1"/>
                  </a:moveTo>
                  <a:cubicBezTo>
                    <a:pt x="3692" y="1"/>
                    <a:pt x="3442" y="144"/>
                    <a:pt x="3275" y="346"/>
                  </a:cubicBezTo>
                  <a:lnTo>
                    <a:pt x="2751" y="346"/>
                  </a:lnTo>
                  <a:cubicBezTo>
                    <a:pt x="2525" y="346"/>
                    <a:pt x="2335" y="501"/>
                    <a:pt x="2275" y="691"/>
                  </a:cubicBezTo>
                  <a:lnTo>
                    <a:pt x="680" y="691"/>
                  </a:lnTo>
                  <a:cubicBezTo>
                    <a:pt x="310" y="691"/>
                    <a:pt x="1" y="989"/>
                    <a:pt x="1" y="1382"/>
                  </a:cubicBezTo>
                  <a:lnTo>
                    <a:pt x="1" y="10323"/>
                  </a:lnTo>
                  <a:cubicBezTo>
                    <a:pt x="1" y="10692"/>
                    <a:pt x="299" y="11002"/>
                    <a:pt x="680" y="11002"/>
                  </a:cubicBezTo>
                  <a:lnTo>
                    <a:pt x="7216" y="11002"/>
                  </a:lnTo>
                  <a:cubicBezTo>
                    <a:pt x="7585" y="11002"/>
                    <a:pt x="7907" y="10704"/>
                    <a:pt x="7907" y="10323"/>
                  </a:cubicBezTo>
                  <a:lnTo>
                    <a:pt x="7907" y="1382"/>
                  </a:lnTo>
                  <a:cubicBezTo>
                    <a:pt x="7907" y="989"/>
                    <a:pt x="7609" y="691"/>
                    <a:pt x="7228" y="691"/>
                  </a:cubicBezTo>
                  <a:lnTo>
                    <a:pt x="5644" y="691"/>
                  </a:lnTo>
                  <a:cubicBezTo>
                    <a:pt x="5561" y="501"/>
                    <a:pt x="5383" y="346"/>
                    <a:pt x="5168" y="346"/>
                  </a:cubicBezTo>
                  <a:lnTo>
                    <a:pt x="4644" y="346"/>
                  </a:lnTo>
                  <a:cubicBezTo>
                    <a:pt x="4478" y="144"/>
                    <a:pt x="4228" y="1"/>
                    <a:pt x="3954" y="1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182850" tIns="182850" rIns="182850" bIns="18285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3" name="Google Shape;93;p11"/>
            <p:cNvSpPr/>
            <p:nvPr/>
          </p:nvSpPr>
          <p:spPr>
            <a:xfrm>
              <a:off x="1031604" y="1530205"/>
              <a:ext cx="10280" cy="10248"/>
            </a:xfrm>
            <a:custGeom>
              <a:avLst/>
              <a:gdLst/>
              <a:ahLst/>
              <a:cxnLst/>
              <a:rect l="l" t="t" r="r" b="b"/>
              <a:pathLst>
                <a:path w="323" h="322" extrusionOk="0">
                  <a:moveTo>
                    <a:pt x="156" y="0"/>
                  </a:moveTo>
                  <a:cubicBezTo>
                    <a:pt x="72" y="0"/>
                    <a:pt x="1" y="72"/>
                    <a:pt x="1" y="167"/>
                  </a:cubicBezTo>
                  <a:cubicBezTo>
                    <a:pt x="1" y="250"/>
                    <a:pt x="72" y="322"/>
                    <a:pt x="156" y="322"/>
                  </a:cubicBezTo>
                  <a:cubicBezTo>
                    <a:pt x="251" y="322"/>
                    <a:pt x="322" y="250"/>
                    <a:pt x="322" y="167"/>
                  </a:cubicBezTo>
                  <a:cubicBezTo>
                    <a:pt x="322" y="72"/>
                    <a:pt x="251" y="0"/>
                    <a:pt x="156" y="0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182850" tIns="182850" rIns="182850" bIns="18285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4" name="Google Shape;94;p11"/>
            <p:cNvSpPr/>
            <p:nvPr/>
          </p:nvSpPr>
          <p:spPr>
            <a:xfrm>
              <a:off x="932334" y="1551784"/>
              <a:ext cx="208088" cy="273653"/>
            </a:xfrm>
            <a:custGeom>
              <a:avLst/>
              <a:gdLst/>
              <a:ahLst/>
              <a:cxnLst/>
              <a:rect l="l" t="t" r="r" b="b"/>
              <a:pathLst>
                <a:path w="6538" h="8598" extrusionOk="0">
                  <a:moveTo>
                    <a:pt x="167" y="1"/>
                  </a:moveTo>
                  <a:cubicBezTo>
                    <a:pt x="72" y="1"/>
                    <a:pt x="1" y="84"/>
                    <a:pt x="1" y="168"/>
                  </a:cubicBezTo>
                  <a:lnTo>
                    <a:pt x="1" y="8430"/>
                  </a:lnTo>
                  <a:cubicBezTo>
                    <a:pt x="1" y="8526"/>
                    <a:pt x="72" y="8597"/>
                    <a:pt x="167" y="8597"/>
                  </a:cubicBezTo>
                  <a:lnTo>
                    <a:pt x="6358" y="8597"/>
                  </a:lnTo>
                  <a:cubicBezTo>
                    <a:pt x="6442" y="8597"/>
                    <a:pt x="6525" y="8526"/>
                    <a:pt x="6525" y="8430"/>
                  </a:cubicBezTo>
                  <a:lnTo>
                    <a:pt x="6525" y="168"/>
                  </a:lnTo>
                  <a:cubicBezTo>
                    <a:pt x="6537" y="84"/>
                    <a:pt x="6466" y="13"/>
                    <a:pt x="6370" y="13"/>
                  </a:cubicBezTo>
                  <a:lnTo>
                    <a:pt x="5513" y="13"/>
                  </a:lnTo>
                  <a:cubicBezTo>
                    <a:pt x="5418" y="13"/>
                    <a:pt x="5346" y="84"/>
                    <a:pt x="5346" y="168"/>
                  </a:cubicBezTo>
                  <a:cubicBezTo>
                    <a:pt x="5346" y="263"/>
                    <a:pt x="5418" y="334"/>
                    <a:pt x="5513" y="334"/>
                  </a:cubicBezTo>
                  <a:lnTo>
                    <a:pt x="6204" y="334"/>
                  </a:lnTo>
                  <a:lnTo>
                    <a:pt x="6204" y="8264"/>
                  </a:lnTo>
                  <a:lnTo>
                    <a:pt x="334" y="8264"/>
                  </a:lnTo>
                  <a:lnTo>
                    <a:pt x="334" y="334"/>
                  </a:lnTo>
                  <a:lnTo>
                    <a:pt x="1024" y="334"/>
                  </a:lnTo>
                  <a:cubicBezTo>
                    <a:pt x="1120" y="334"/>
                    <a:pt x="1191" y="263"/>
                    <a:pt x="1191" y="168"/>
                  </a:cubicBezTo>
                  <a:cubicBezTo>
                    <a:pt x="1191" y="84"/>
                    <a:pt x="1120" y="1"/>
                    <a:pt x="1024" y="1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182850" tIns="182850" rIns="182850" bIns="18285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5" name="Google Shape;95;p11"/>
            <p:cNvSpPr/>
            <p:nvPr/>
          </p:nvSpPr>
          <p:spPr>
            <a:xfrm>
              <a:off x="965689" y="1661302"/>
              <a:ext cx="32241" cy="32241"/>
            </a:xfrm>
            <a:custGeom>
              <a:avLst/>
              <a:gdLst/>
              <a:ahLst/>
              <a:cxnLst/>
              <a:rect l="l" t="t" r="r" b="b"/>
              <a:pathLst>
                <a:path w="1013" h="1013" extrusionOk="0">
                  <a:moveTo>
                    <a:pt x="500" y="346"/>
                  </a:moveTo>
                  <a:cubicBezTo>
                    <a:pt x="608" y="346"/>
                    <a:pt x="679" y="441"/>
                    <a:pt x="679" y="525"/>
                  </a:cubicBezTo>
                  <a:cubicBezTo>
                    <a:pt x="703" y="620"/>
                    <a:pt x="608" y="703"/>
                    <a:pt x="500" y="703"/>
                  </a:cubicBezTo>
                  <a:cubicBezTo>
                    <a:pt x="405" y="703"/>
                    <a:pt x="322" y="620"/>
                    <a:pt x="322" y="525"/>
                  </a:cubicBezTo>
                  <a:cubicBezTo>
                    <a:pt x="322" y="417"/>
                    <a:pt x="417" y="346"/>
                    <a:pt x="500" y="346"/>
                  </a:cubicBezTo>
                  <a:close/>
                  <a:moveTo>
                    <a:pt x="500" y="1"/>
                  </a:moveTo>
                  <a:cubicBezTo>
                    <a:pt x="227" y="1"/>
                    <a:pt x="0" y="227"/>
                    <a:pt x="0" y="513"/>
                  </a:cubicBezTo>
                  <a:cubicBezTo>
                    <a:pt x="0" y="787"/>
                    <a:pt x="227" y="1013"/>
                    <a:pt x="500" y="1013"/>
                  </a:cubicBezTo>
                  <a:cubicBezTo>
                    <a:pt x="786" y="1013"/>
                    <a:pt x="1012" y="787"/>
                    <a:pt x="1012" y="513"/>
                  </a:cubicBezTo>
                  <a:cubicBezTo>
                    <a:pt x="1012" y="227"/>
                    <a:pt x="786" y="1"/>
                    <a:pt x="500" y="1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182850" tIns="182850" rIns="182850" bIns="18285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6" name="Google Shape;96;p11"/>
            <p:cNvSpPr/>
            <p:nvPr/>
          </p:nvSpPr>
          <p:spPr>
            <a:xfrm>
              <a:off x="965689" y="1710571"/>
              <a:ext cx="32241" cy="32241"/>
            </a:xfrm>
            <a:custGeom>
              <a:avLst/>
              <a:gdLst/>
              <a:ahLst/>
              <a:cxnLst/>
              <a:rect l="l" t="t" r="r" b="b"/>
              <a:pathLst>
                <a:path w="1013" h="1013" extrusionOk="0">
                  <a:moveTo>
                    <a:pt x="500" y="346"/>
                  </a:moveTo>
                  <a:cubicBezTo>
                    <a:pt x="608" y="346"/>
                    <a:pt x="679" y="441"/>
                    <a:pt x="679" y="524"/>
                  </a:cubicBezTo>
                  <a:cubicBezTo>
                    <a:pt x="679" y="608"/>
                    <a:pt x="608" y="703"/>
                    <a:pt x="500" y="703"/>
                  </a:cubicBezTo>
                  <a:cubicBezTo>
                    <a:pt x="405" y="703"/>
                    <a:pt x="322" y="608"/>
                    <a:pt x="322" y="524"/>
                  </a:cubicBezTo>
                  <a:cubicBezTo>
                    <a:pt x="322" y="441"/>
                    <a:pt x="417" y="346"/>
                    <a:pt x="500" y="346"/>
                  </a:cubicBezTo>
                  <a:close/>
                  <a:moveTo>
                    <a:pt x="500" y="1"/>
                  </a:moveTo>
                  <a:cubicBezTo>
                    <a:pt x="227" y="1"/>
                    <a:pt x="0" y="227"/>
                    <a:pt x="0" y="513"/>
                  </a:cubicBezTo>
                  <a:cubicBezTo>
                    <a:pt x="0" y="786"/>
                    <a:pt x="227" y="1013"/>
                    <a:pt x="500" y="1013"/>
                  </a:cubicBezTo>
                  <a:cubicBezTo>
                    <a:pt x="786" y="1013"/>
                    <a:pt x="1012" y="786"/>
                    <a:pt x="1012" y="513"/>
                  </a:cubicBezTo>
                  <a:cubicBezTo>
                    <a:pt x="1012" y="227"/>
                    <a:pt x="786" y="1"/>
                    <a:pt x="500" y="1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182850" tIns="182850" rIns="182850" bIns="18285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7" name="Google Shape;97;p11"/>
            <p:cNvSpPr/>
            <p:nvPr/>
          </p:nvSpPr>
          <p:spPr>
            <a:xfrm>
              <a:off x="965689" y="1760604"/>
              <a:ext cx="32241" cy="31859"/>
            </a:xfrm>
            <a:custGeom>
              <a:avLst/>
              <a:gdLst/>
              <a:ahLst/>
              <a:cxnLst/>
              <a:rect l="l" t="t" r="r" b="b"/>
              <a:pathLst>
                <a:path w="1013" h="1001" extrusionOk="0">
                  <a:moveTo>
                    <a:pt x="500" y="322"/>
                  </a:moveTo>
                  <a:cubicBezTo>
                    <a:pt x="608" y="322"/>
                    <a:pt x="679" y="417"/>
                    <a:pt x="679" y="500"/>
                  </a:cubicBezTo>
                  <a:cubicBezTo>
                    <a:pt x="703" y="596"/>
                    <a:pt x="608" y="679"/>
                    <a:pt x="500" y="679"/>
                  </a:cubicBezTo>
                  <a:cubicBezTo>
                    <a:pt x="405" y="679"/>
                    <a:pt x="322" y="584"/>
                    <a:pt x="322" y="500"/>
                  </a:cubicBezTo>
                  <a:cubicBezTo>
                    <a:pt x="322" y="393"/>
                    <a:pt x="417" y="322"/>
                    <a:pt x="500" y="322"/>
                  </a:cubicBezTo>
                  <a:close/>
                  <a:moveTo>
                    <a:pt x="500" y="0"/>
                  </a:moveTo>
                  <a:cubicBezTo>
                    <a:pt x="227" y="0"/>
                    <a:pt x="0" y="215"/>
                    <a:pt x="0" y="500"/>
                  </a:cubicBezTo>
                  <a:cubicBezTo>
                    <a:pt x="0" y="786"/>
                    <a:pt x="227" y="1000"/>
                    <a:pt x="500" y="1000"/>
                  </a:cubicBezTo>
                  <a:cubicBezTo>
                    <a:pt x="786" y="1000"/>
                    <a:pt x="1012" y="786"/>
                    <a:pt x="1012" y="500"/>
                  </a:cubicBezTo>
                  <a:cubicBezTo>
                    <a:pt x="1012" y="215"/>
                    <a:pt x="786" y="0"/>
                    <a:pt x="500" y="0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182850" tIns="182850" rIns="182850" bIns="18285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8" name="Google Shape;98;p11"/>
            <p:cNvSpPr/>
            <p:nvPr/>
          </p:nvSpPr>
          <p:spPr>
            <a:xfrm>
              <a:off x="1009643" y="1661302"/>
              <a:ext cx="59899" cy="10662"/>
            </a:xfrm>
            <a:custGeom>
              <a:avLst/>
              <a:gdLst/>
              <a:ahLst/>
              <a:cxnLst/>
              <a:rect l="l" t="t" r="r" b="b"/>
              <a:pathLst>
                <a:path w="1882" h="335" extrusionOk="0">
                  <a:moveTo>
                    <a:pt x="167" y="1"/>
                  </a:moveTo>
                  <a:cubicBezTo>
                    <a:pt x="72" y="1"/>
                    <a:pt x="0" y="72"/>
                    <a:pt x="0" y="167"/>
                  </a:cubicBezTo>
                  <a:cubicBezTo>
                    <a:pt x="0" y="263"/>
                    <a:pt x="72" y="334"/>
                    <a:pt x="167" y="334"/>
                  </a:cubicBezTo>
                  <a:lnTo>
                    <a:pt x="1715" y="334"/>
                  </a:lnTo>
                  <a:cubicBezTo>
                    <a:pt x="1798" y="334"/>
                    <a:pt x="1882" y="263"/>
                    <a:pt x="1882" y="167"/>
                  </a:cubicBezTo>
                  <a:cubicBezTo>
                    <a:pt x="1882" y="72"/>
                    <a:pt x="1798" y="1"/>
                    <a:pt x="1715" y="1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182850" tIns="182850" rIns="182850" bIns="18285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9" name="Google Shape;99;p11"/>
            <p:cNvSpPr/>
            <p:nvPr/>
          </p:nvSpPr>
          <p:spPr>
            <a:xfrm>
              <a:off x="1009643" y="1683677"/>
              <a:ext cx="98188" cy="10630"/>
            </a:xfrm>
            <a:custGeom>
              <a:avLst/>
              <a:gdLst/>
              <a:ahLst/>
              <a:cxnLst/>
              <a:rect l="l" t="t" r="r" b="b"/>
              <a:pathLst>
                <a:path w="3085" h="334" extrusionOk="0">
                  <a:moveTo>
                    <a:pt x="167" y="0"/>
                  </a:moveTo>
                  <a:cubicBezTo>
                    <a:pt x="72" y="0"/>
                    <a:pt x="0" y="72"/>
                    <a:pt x="0" y="167"/>
                  </a:cubicBezTo>
                  <a:cubicBezTo>
                    <a:pt x="0" y="250"/>
                    <a:pt x="72" y="334"/>
                    <a:pt x="167" y="334"/>
                  </a:cubicBezTo>
                  <a:lnTo>
                    <a:pt x="2917" y="334"/>
                  </a:lnTo>
                  <a:cubicBezTo>
                    <a:pt x="3013" y="334"/>
                    <a:pt x="3084" y="250"/>
                    <a:pt x="3084" y="167"/>
                  </a:cubicBezTo>
                  <a:cubicBezTo>
                    <a:pt x="3084" y="72"/>
                    <a:pt x="3013" y="0"/>
                    <a:pt x="2917" y="0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182850" tIns="182850" rIns="182850" bIns="18285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0" name="Google Shape;100;p11"/>
            <p:cNvSpPr/>
            <p:nvPr/>
          </p:nvSpPr>
          <p:spPr>
            <a:xfrm>
              <a:off x="1009643" y="1710571"/>
              <a:ext cx="59899" cy="10630"/>
            </a:xfrm>
            <a:custGeom>
              <a:avLst/>
              <a:gdLst/>
              <a:ahLst/>
              <a:cxnLst/>
              <a:rect l="l" t="t" r="r" b="b"/>
              <a:pathLst>
                <a:path w="1882" h="334" extrusionOk="0">
                  <a:moveTo>
                    <a:pt x="167" y="1"/>
                  </a:moveTo>
                  <a:cubicBezTo>
                    <a:pt x="72" y="1"/>
                    <a:pt x="0" y="84"/>
                    <a:pt x="0" y="167"/>
                  </a:cubicBezTo>
                  <a:cubicBezTo>
                    <a:pt x="0" y="263"/>
                    <a:pt x="72" y="334"/>
                    <a:pt x="167" y="334"/>
                  </a:cubicBezTo>
                  <a:lnTo>
                    <a:pt x="1715" y="334"/>
                  </a:lnTo>
                  <a:cubicBezTo>
                    <a:pt x="1798" y="334"/>
                    <a:pt x="1882" y="263"/>
                    <a:pt x="1882" y="167"/>
                  </a:cubicBezTo>
                  <a:cubicBezTo>
                    <a:pt x="1882" y="84"/>
                    <a:pt x="1798" y="1"/>
                    <a:pt x="1715" y="1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182850" tIns="182850" rIns="182850" bIns="18285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1" name="Google Shape;101;p11"/>
            <p:cNvSpPr/>
            <p:nvPr/>
          </p:nvSpPr>
          <p:spPr>
            <a:xfrm>
              <a:off x="1009643" y="1732946"/>
              <a:ext cx="98188" cy="10630"/>
            </a:xfrm>
            <a:custGeom>
              <a:avLst/>
              <a:gdLst/>
              <a:ahLst/>
              <a:cxnLst/>
              <a:rect l="l" t="t" r="r" b="b"/>
              <a:pathLst>
                <a:path w="3085" h="334" extrusionOk="0">
                  <a:moveTo>
                    <a:pt x="167" y="0"/>
                  </a:moveTo>
                  <a:cubicBezTo>
                    <a:pt x="72" y="0"/>
                    <a:pt x="0" y="71"/>
                    <a:pt x="0" y="167"/>
                  </a:cubicBezTo>
                  <a:cubicBezTo>
                    <a:pt x="0" y="250"/>
                    <a:pt x="72" y="333"/>
                    <a:pt x="167" y="333"/>
                  </a:cubicBezTo>
                  <a:lnTo>
                    <a:pt x="2917" y="333"/>
                  </a:lnTo>
                  <a:cubicBezTo>
                    <a:pt x="3013" y="333"/>
                    <a:pt x="3084" y="250"/>
                    <a:pt x="3084" y="167"/>
                  </a:cubicBezTo>
                  <a:cubicBezTo>
                    <a:pt x="3084" y="71"/>
                    <a:pt x="3013" y="0"/>
                    <a:pt x="2917" y="0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182850" tIns="182850" rIns="182850" bIns="18285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2" name="Google Shape;102;p11"/>
            <p:cNvSpPr/>
            <p:nvPr/>
          </p:nvSpPr>
          <p:spPr>
            <a:xfrm>
              <a:off x="1009643" y="1760604"/>
              <a:ext cx="59899" cy="10248"/>
            </a:xfrm>
            <a:custGeom>
              <a:avLst/>
              <a:gdLst/>
              <a:ahLst/>
              <a:cxnLst/>
              <a:rect l="l" t="t" r="r" b="b"/>
              <a:pathLst>
                <a:path w="1882" h="322" extrusionOk="0">
                  <a:moveTo>
                    <a:pt x="167" y="0"/>
                  </a:moveTo>
                  <a:cubicBezTo>
                    <a:pt x="72" y="0"/>
                    <a:pt x="0" y="72"/>
                    <a:pt x="0" y="155"/>
                  </a:cubicBezTo>
                  <a:cubicBezTo>
                    <a:pt x="0" y="250"/>
                    <a:pt x="72" y="322"/>
                    <a:pt x="167" y="322"/>
                  </a:cubicBezTo>
                  <a:lnTo>
                    <a:pt x="1715" y="322"/>
                  </a:lnTo>
                  <a:cubicBezTo>
                    <a:pt x="1798" y="322"/>
                    <a:pt x="1882" y="250"/>
                    <a:pt x="1882" y="155"/>
                  </a:cubicBezTo>
                  <a:cubicBezTo>
                    <a:pt x="1882" y="72"/>
                    <a:pt x="1798" y="0"/>
                    <a:pt x="1715" y="0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182850" tIns="182850" rIns="182850" bIns="18285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3" name="Google Shape;103;p11"/>
            <p:cNvSpPr/>
            <p:nvPr/>
          </p:nvSpPr>
          <p:spPr>
            <a:xfrm>
              <a:off x="1009643" y="1782183"/>
              <a:ext cx="98188" cy="10662"/>
            </a:xfrm>
            <a:custGeom>
              <a:avLst/>
              <a:gdLst/>
              <a:ahLst/>
              <a:cxnLst/>
              <a:rect l="l" t="t" r="r" b="b"/>
              <a:pathLst>
                <a:path w="3085" h="335" extrusionOk="0">
                  <a:moveTo>
                    <a:pt x="167" y="1"/>
                  </a:moveTo>
                  <a:cubicBezTo>
                    <a:pt x="72" y="1"/>
                    <a:pt x="0" y="72"/>
                    <a:pt x="0" y="168"/>
                  </a:cubicBezTo>
                  <a:cubicBezTo>
                    <a:pt x="0" y="251"/>
                    <a:pt x="72" y="334"/>
                    <a:pt x="167" y="334"/>
                  </a:cubicBezTo>
                  <a:lnTo>
                    <a:pt x="2917" y="334"/>
                  </a:lnTo>
                  <a:cubicBezTo>
                    <a:pt x="3013" y="334"/>
                    <a:pt x="3084" y="251"/>
                    <a:pt x="3084" y="168"/>
                  </a:cubicBezTo>
                  <a:cubicBezTo>
                    <a:pt x="3084" y="72"/>
                    <a:pt x="3013" y="1"/>
                    <a:pt x="2917" y="1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182850" tIns="182850" rIns="182850" bIns="18285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4" name="Google Shape;104;p11"/>
            <p:cNvSpPr/>
            <p:nvPr/>
          </p:nvSpPr>
          <p:spPr>
            <a:xfrm>
              <a:off x="1009643" y="1579473"/>
              <a:ext cx="98188" cy="10630"/>
            </a:xfrm>
            <a:custGeom>
              <a:avLst/>
              <a:gdLst/>
              <a:ahLst/>
              <a:cxnLst/>
              <a:rect l="l" t="t" r="r" b="b"/>
              <a:pathLst>
                <a:path w="3085" h="334" extrusionOk="0">
                  <a:moveTo>
                    <a:pt x="167" y="0"/>
                  </a:moveTo>
                  <a:cubicBezTo>
                    <a:pt x="72" y="0"/>
                    <a:pt x="0" y="71"/>
                    <a:pt x="0" y="167"/>
                  </a:cubicBezTo>
                  <a:cubicBezTo>
                    <a:pt x="0" y="250"/>
                    <a:pt x="72" y="333"/>
                    <a:pt x="167" y="333"/>
                  </a:cubicBezTo>
                  <a:lnTo>
                    <a:pt x="2917" y="333"/>
                  </a:lnTo>
                  <a:cubicBezTo>
                    <a:pt x="3013" y="333"/>
                    <a:pt x="3084" y="250"/>
                    <a:pt x="3084" y="167"/>
                  </a:cubicBezTo>
                  <a:cubicBezTo>
                    <a:pt x="3084" y="71"/>
                    <a:pt x="3013" y="0"/>
                    <a:pt x="2917" y="0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182850" tIns="182850" rIns="182850" bIns="18285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5" name="Google Shape;105;p11"/>
            <p:cNvSpPr/>
            <p:nvPr/>
          </p:nvSpPr>
          <p:spPr>
            <a:xfrm>
              <a:off x="965689" y="1628711"/>
              <a:ext cx="142142" cy="10662"/>
            </a:xfrm>
            <a:custGeom>
              <a:avLst/>
              <a:gdLst/>
              <a:ahLst/>
              <a:cxnLst/>
              <a:rect l="l" t="t" r="r" b="b"/>
              <a:pathLst>
                <a:path w="4466" h="335" extrusionOk="0">
                  <a:moveTo>
                    <a:pt x="155" y="1"/>
                  </a:moveTo>
                  <a:cubicBezTo>
                    <a:pt x="72" y="1"/>
                    <a:pt x="0" y="72"/>
                    <a:pt x="0" y="168"/>
                  </a:cubicBezTo>
                  <a:cubicBezTo>
                    <a:pt x="0" y="251"/>
                    <a:pt x="72" y="334"/>
                    <a:pt x="155" y="334"/>
                  </a:cubicBezTo>
                  <a:lnTo>
                    <a:pt x="4298" y="334"/>
                  </a:lnTo>
                  <a:cubicBezTo>
                    <a:pt x="4394" y="334"/>
                    <a:pt x="4465" y="251"/>
                    <a:pt x="4465" y="168"/>
                  </a:cubicBezTo>
                  <a:cubicBezTo>
                    <a:pt x="4465" y="72"/>
                    <a:pt x="4394" y="1"/>
                    <a:pt x="4298" y="1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182850" tIns="182850" rIns="182850" bIns="18285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6" name="Google Shape;106;p11"/>
            <p:cNvSpPr/>
            <p:nvPr/>
          </p:nvSpPr>
          <p:spPr>
            <a:xfrm>
              <a:off x="1009643" y="1601434"/>
              <a:ext cx="26926" cy="10280"/>
            </a:xfrm>
            <a:custGeom>
              <a:avLst/>
              <a:gdLst/>
              <a:ahLst/>
              <a:cxnLst/>
              <a:rect l="l" t="t" r="r" b="b"/>
              <a:pathLst>
                <a:path w="846" h="323" extrusionOk="0">
                  <a:moveTo>
                    <a:pt x="167" y="1"/>
                  </a:moveTo>
                  <a:cubicBezTo>
                    <a:pt x="72" y="1"/>
                    <a:pt x="0" y="72"/>
                    <a:pt x="0" y="155"/>
                  </a:cubicBezTo>
                  <a:cubicBezTo>
                    <a:pt x="0" y="251"/>
                    <a:pt x="72" y="322"/>
                    <a:pt x="167" y="322"/>
                  </a:cubicBezTo>
                  <a:lnTo>
                    <a:pt x="691" y="322"/>
                  </a:lnTo>
                  <a:cubicBezTo>
                    <a:pt x="774" y="322"/>
                    <a:pt x="846" y="251"/>
                    <a:pt x="846" y="155"/>
                  </a:cubicBezTo>
                  <a:cubicBezTo>
                    <a:pt x="846" y="72"/>
                    <a:pt x="762" y="1"/>
                    <a:pt x="691" y="1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182850" tIns="182850" rIns="182850" bIns="18285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7" name="Google Shape;107;p11"/>
            <p:cNvSpPr/>
            <p:nvPr/>
          </p:nvSpPr>
          <p:spPr>
            <a:xfrm>
              <a:off x="1047550" y="1601434"/>
              <a:ext cx="26926" cy="10280"/>
            </a:xfrm>
            <a:custGeom>
              <a:avLst/>
              <a:gdLst/>
              <a:ahLst/>
              <a:cxnLst/>
              <a:rect l="l" t="t" r="r" b="b"/>
              <a:pathLst>
                <a:path w="846" h="323" extrusionOk="0">
                  <a:moveTo>
                    <a:pt x="167" y="1"/>
                  </a:moveTo>
                  <a:cubicBezTo>
                    <a:pt x="71" y="1"/>
                    <a:pt x="0" y="72"/>
                    <a:pt x="0" y="155"/>
                  </a:cubicBezTo>
                  <a:cubicBezTo>
                    <a:pt x="0" y="251"/>
                    <a:pt x="71" y="322"/>
                    <a:pt x="167" y="322"/>
                  </a:cubicBezTo>
                  <a:lnTo>
                    <a:pt x="691" y="322"/>
                  </a:lnTo>
                  <a:cubicBezTo>
                    <a:pt x="774" y="322"/>
                    <a:pt x="845" y="251"/>
                    <a:pt x="845" y="155"/>
                  </a:cubicBezTo>
                  <a:cubicBezTo>
                    <a:pt x="845" y="72"/>
                    <a:pt x="774" y="1"/>
                    <a:pt x="691" y="1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182850" tIns="182850" rIns="182850" bIns="18285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8" name="Google Shape;108;p11"/>
            <p:cNvSpPr/>
            <p:nvPr/>
          </p:nvSpPr>
          <p:spPr>
            <a:xfrm>
              <a:off x="966071" y="1579473"/>
              <a:ext cx="32241" cy="32241"/>
            </a:xfrm>
            <a:custGeom>
              <a:avLst/>
              <a:gdLst/>
              <a:ahLst/>
              <a:cxnLst/>
              <a:rect l="l" t="t" r="r" b="b"/>
              <a:pathLst>
                <a:path w="1013" h="1013" extrusionOk="0">
                  <a:moveTo>
                    <a:pt x="691" y="310"/>
                  </a:moveTo>
                  <a:lnTo>
                    <a:pt x="691" y="691"/>
                  </a:lnTo>
                  <a:lnTo>
                    <a:pt x="310" y="691"/>
                  </a:lnTo>
                  <a:lnTo>
                    <a:pt x="310" y="310"/>
                  </a:lnTo>
                  <a:close/>
                  <a:moveTo>
                    <a:pt x="167" y="0"/>
                  </a:moveTo>
                  <a:cubicBezTo>
                    <a:pt x="72" y="0"/>
                    <a:pt x="0" y="71"/>
                    <a:pt x="0" y="167"/>
                  </a:cubicBezTo>
                  <a:lnTo>
                    <a:pt x="0" y="845"/>
                  </a:lnTo>
                  <a:cubicBezTo>
                    <a:pt x="0" y="941"/>
                    <a:pt x="72" y="1012"/>
                    <a:pt x="167" y="1012"/>
                  </a:cubicBezTo>
                  <a:lnTo>
                    <a:pt x="846" y="1012"/>
                  </a:lnTo>
                  <a:cubicBezTo>
                    <a:pt x="941" y="1012"/>
                    <a:pt x="1012" y="941"/>
                    <a:pt x="1012" y="845"/>
                  </a:cubicBezTo>
                  <a:lnTo>
                    <a:pt x="1012" y="167"/>
                  </a:lnTo>
                  <a:cubicBezTo>
                    <a:pt x="1000" y="71"/>
                    <a:pt x="941" y="0"/>
                    <a:pt x="846" y="0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182850" tIns="182850" rIns="182850" bIns="18285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109" name="Google Shape;109;p11"/>
          <p:cNvSpPr txBox="1"/>
          <p:nvPr/>
        </p:nvSpPr>
        <p:spPr>
          <a:xfrm>
            <a:off x="7952225" y="4536150"/>
            <a:ext cx="8361000" cy="1214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600"/>
              <a:buFont typeface="Arial"/>
              <a:buNone/>
            </a:pPr>
            <a:r>
              <a:rPr lang="es-ES" sz="5000" u="none" strike="noStrike" cap="none" dirty="0">
                <a:latin typeface="Roboto Slab Black"/>
                <a:ea typeface="Roboto Slab Black"/>
                <a:cs typeface="Roboto Slab Black"/>
                <a:sym typeface="Roboto Slab Black"/>
              </a:rPr>
              <a:t>Generación de Valor</a:t>
            </a:r>
          </a:p>
        </p:txBody>
      </p:sp>
      <p:sp>
        <p:nvSpPr>
          <p:cNvPr id="110" name="Google Shape;110;p11"/>
          <p:cNvSpPr/>
          <p:nvPr/>
        </p:nvSpPr>
        <p:spPr>
          <a:xfrm>
            <a:off x="1365175" y="2995122"/>
            <a:ext cx="336724" cy="4296761"/>
          </a:xfrm>
          <a:custGeom>
            <a:avLst/>
            <a:gdLst/>
            <a:ahLst/>
            <a:cxnLst/>
            <a:rect l="l" t="t" r="r" b="b"/>
            <a:pathLst>
              <a:path w="16498" h="136351" extrusionOk="0">
                <a:moveTo>
                  <a:pt x="16498" y="0"/>
                </a:moveTo>
                <a:lnTo>
                  <a:pt x="0" y="0"/>
                </a:lnTo>
                <a:lnTo>
                  <a:pt x="0" y="136351"/>
                </a:lnTo>
                <a:lnTo>
                  <a:pt x="16498" y="136351"/>
                </a:lnTo>
              </a:path>
            </a:pathLst>
          </a:custGeom>
          <a:noFill/>
          <a:ln w="38100" cap="flat" cmpd="sng">
            <a:solidFill>
              <a:srgbClr val="FFFFFF"/>
            </a:solidFill>
            <a:prstDash val="solid"/>
            <a:round/>
            <a:headEnd type="diamond" w="med" len="med"/>
            <a:tailEnd type="diamond" w="med" len="med"/>
          </a:ln>
        </p:spPr>
        <p:txBody>
          <a:bodyPr/>
          <a:lstStyle/>
          <a:p>
            <a:endParaRPr lang="es-419"/>
          </a:p>
        </p:txBody>
      </p:sp>
      <p:sp>
        <p:nvSpPr>
          <p:cNvPr id="111" name="Google Shape;111;p11"/>
          <p:cNvSpPr/>
          <p:nvPr/>
        </p:nvSpPr>
        <p:spPr>
          <a:xfrm rot="10800000">
            <a:off x="5603076" y="2995122"/>
            <a:ext cx="336724" cy="4296761"/>
          </a:xfrm>
          <a:custGeom>
            <a:avLst/>
            <a:gdLst/>
            <a:ahLst/>
            <a:cxnLst/>
            <a:rect l="l" t="t" r="r" b="b"/>
            <a:pathLst>
              <a:path w="16498" h="136351" extrusionOk="0">
                <a:moveTo>
                  <a:pt x="16498" y="0"/>
                </a:moveTo>
                <a:lnTo>
                  <a:pt x="0" y="0"/>
                </a:lnTo>
                <a:lnTo>
                  <a:pt x="0" y="136351"/>
                </a:lnTo>
                <a:lnTo>
                  <a:pt x="16498" y="136351"/>
                </a:lnTo>
              </a:path>
            </a:pathLst>
          </a:custGeom>
          <a:noFill/>
          <a:ln w="38100" cap="flat" cmpd="sng">
            <a:solidFill>
              <a:srgbClr val="FFFFFF"/>
            </a:solidFill>
            <a:prstDash val="solid"/>
            <a:round/>
            <a:headEnd type="diamond" w="med" len="med"/>
            <a:tailEnd type="diamond" w="med" len="med"/>
          </a:ln>
        </p:spPr>
        <p:txBody>
          <a:bodyPr/>
          <a:lstStyle/>
          <a:p>
            <a:endParaRPr lang="es-419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rcRect t="3904" b="7207"/>
          <a:stretch>
            <a:fillRect/>
          </a:stretch>
        </p:blipFill>
        <p:spPr>
          <a:xfrm>
            <a:off x="1500284" y="1645919"/>
            <a:ext cx="15973322" cy="79201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3229238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60319" y="1884001"/>
            <a:ext cx="13526868" cy="75454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2892872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rcRect t="7217" b="7774"/>
          <a:stretch>
            <a:fillRect/>
          </a:stretch>
        </p:blipFill>
        <p:spPr>
          <a:xfrm>
            <a:off x="1526120" y="1645920"/>
            <a:ext cx="16761880" cy="794824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7528805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4911" y="206913"/>
            <a:ext cx="16256000" cy="9067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6771973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90652" y="1686193"/>
            <a:ext cx="13906696" cy="77573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5872952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rcRect t="7515" b="7028"/>
          <a:stretch>
            <a:fillRect/>
          </a:stretch>
        </p:blipFill>
        <p:spPr>
          <a:xfrm>
            <a:off x="1751427" y="2110153"/>
            <a:ext cx="14785145" cy="7047914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rcRect t="7303" b="6095"/>
          <a:stretch>
            <a:fillRect/>
          </a:stretch>
        </p:blipFill>
        <p:spPr>
          <a:xfrm>
            <a:off x="1519311" y="1669338"/>
            <a:ext cx="16346658" cy="7896693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rcRect t="6613" b="12025"/>
          <a:stretch>
            <a:fillRect/>
          </a:stretch>
        </p:blipFill>
        <p:spPr>
          <a:xfrm>
            <a:off x="883762" y="1941665"/>
            <a:ext cx="16520476" cy="7497755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39815" y="1289392"/>
            <a:ext cx="14489723" cy="8082549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rcRect t="6554" b="2916"/>
          <a:stretch>
            <a:fillRect/>
          </a:stretch>
        </p:blipFill>
        <p:spPr>
          <a:xfrm>
            <a:off x="1734179" y="1529698"/>
            <a:ext cx="15365956" cy="7759582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rcRect t="4563" b="9844"/>
          <a:stretch>
            <a:fillRect/>
          </a:stretch>
        </p:blipFill>
        <p:spPr>
          <a:xfrm>
            <a:off x="423015" y="1657884"/>
            <a:ext cx="16646054" cy="7947589"/>
          </a:xfrm>
          <a:prstGeom prst="rect">
            <a:avLst/>
          </a:prstGeom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rcRect t="6296" b="7970"/>
          <a:stretch>
            <a:fillRect/>
          </a:stretch>
        </p:blipFill>
        <p:spPr>
          <a:xfrm>
            <a:off x="675116" y="1683522"/>
            <a:ext cx="16582759" cy="7930497"/>
          </a:xfrm>
          <a:prstGeom prst="rect">
            <a:avLst/>
          </a:prstGeom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rcRect t="6199" b="9192"/>
          <a:stretch>
            <a:fillRect/>
          </a:stretch>
        </p:blipFill>
        <p:spPr>
          <a:xfrm>
            <a:off x="1121359" y="1756799"/>
            <a:ext cx="16448793" cy="7763215"/>
          </a:xfrm>
          <a:prstGeom prst="rect">
            <a:avLst/>
          </a:prstGeom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rcRect t="4606" r="1635" b="6248"/>
          <a:stretch>
            <a:fillRect/>
          </a:stretch>
        </p:blipFill>
        <p:spPr>
          <a:xfrm>
            <a:off x="1136590" y="1551043"/>
            <a:ext cx="16219918" cy="8199709"/>
          </a:xfrm>
          <a:prstGeom prst="rect">
            <a:avLst/>
          </a:prstGeom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rcRect l="2710" t="5527" r="1121" b="3582"/>
          <a:stretch>
            <a:fillRect/>
          </a:stretch>
        </p:blipFill>
        <p:spPr>
          <a:xfrm>
            <a:off x="2478280" y="1473307"/>
            <a:ext cx="15262789" cy="8046708"/>
          </a:xfrm>
          <a:prstGeom prst="rect">
            <a:avLst/>
          </a:prstGeom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42863"/>
            <a:ext cx="18288000" cy="10201275"/>
          </a:xfrm>
          <a:prstGeom prst="rect">
            <a:avLst/>
          </a:prstGeom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52642" y="1654600"/>
            <a:ext cx="13912553" cy="7760596"/>
          </a:xfrm>
          <a:prstGeom prst="rect">
            <a:avLst/>
          </a:prstGeom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4">
          <a:extLst>
            <a:ext uri="{FF2B5EF4-FFF2-40B4-BE49-F238E27FC236}">
              <a16:creationId xmlns:a16="http://schemas.microsoft.com/office/drawing/2014/main" id="{4FA07B2C-60B6-2E04-2306-2C0E4479511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Google Shape;25;p7">
            <a:extLst>
              <a:ext uri="{FF2B5EF4-FFF2-40B4-BE49-F238E27FC236}">
                <a16:creationId xmlns:a16="http://schemas.microsoft.com/office/drawing/2014/main" id="{B6986967-D409-6153-0563-5C9A1D8F56EB}"/>
              </a:ext>
            </a:extLst>
          </p:cNvPr>
          <p:cNvSpPr txBox="1"/>
          <p:nvPr/>
        </p:nvSpPr>
        <p:spPr>
          <a:xfrm>
            <a:off x="1466850" y="2478338"/>
            <a:ext cx="15354300" cy="456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600"/>
              <a:buFont typeface="Arial"/>
              <a:buNone/>
            </a:pPr>
            <a:r>
              <a:rPr lang="es-419" sz="5000" u="none" strike="noStrike" cap="none">
                <a:latin typeface="Roboto Slab Black"/>
                <a:ea typeface="Roboto Slab Black"/>
                <a:cs typeface="Roboto Slab Black"/>
                <a:sym typeface="Roboto Slab Black"/>
              </a:rPr>
              <a:t>Objetivo de sesión aquí</a:t>
            </a:r>
            <a:endParaRPr sz="5000" u="none" strike="noStrike" cap="none">
              <a:latin typeface="Roboto Slab Black"/>
              <a:ea typeface="Roboto Slab Black"/>
              <a:cs typeface="Roboto Slab Black"/>
              <a:sym typeface="Roboto Slab Black"/>
            </a:endParaRPr>
          </a:p>
        </p:txBody>
      </p:sp>
      <p:sp>
        <p:nvSpPr>
          <p:cNvPr id="26" name="Google Shape;26;p7">
            <a:extLst>
              <a:ext uri="{FF2B5EF4-FFF2-40B4-BE49-F238E27FC236}">
                <a16:creationId xmlns:a16="http://schemas.microsoft.com/office/drawing/2014/main" id="{EDB736C7-4A38-A0E4-25A4-8AD74B678F15}"/>
              </a:ext>
            </a:extLst>
          </p:cNvPr>
          <p:cNvSpPr txBox="1"/>
          <p:nvPr/>
        </p:nvSpPr>
        <p:spPr>
          <a:xfrm>
            <a:off x="5641663" y="4308821"/>
            <a:ext cx="7004700" cy="323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es-ES" sz="1800" i="0" u="none" strike="noStrike" cap="none" dirty="0">
                <a:solidFill>
                  <a:srgbClr val="000000"/>
                </a:solidFill>
                <a:latin typeface="Roboto Slab"/>
                <a:ea typeface="Roboto Slab"/>
                <a:cs typeface="Roboto Slab"/>
                <a:sym typeface="Roboto Slab"/>
              </a:rPr>
              <a:t>Al finalizar la sesión, el estudiante será capaz de explicar los fundamentos estratégicos de la dirección de proyectos, diferenciando el sistema de entrega de valor, y su relación con la alineación estratégica del proyecto para identificar cómo estas decisiones contribuyen a la generación de valor en la organización.</a:t>
            </a:r>
            <a:endParaRPr sz="1800" i="0" u="none" strike="noStrike" cap="none" dirty="0">
              <a:solidFill>
                <a:srgbClr val="000000"/>
              </a:solidFill>
              <a:latin typeface="Roboto Slab"/>
              <a:ea typeface="Roboto Slab"/>
              <a:cs typeface="Roboto Slab"/>
              <a:sym typeface="Roboto Slab"/>
            </a:endParaRPr>
          </a:p>
        </p:txBody>
      </p:sp>
      <p:sp>
        <p:nvSpPr>
          <p:cNvPr id="27" name="Google Shape;27;p7">
            <a:extLst>
              <a:ext uri="{FF2B5EF4-FFF2-40B4-BE49-F238E27FC236}">
                <a16:creationId xmlns:a16="http://schemas.microsoft.com/office/drawing/2014/main" id="{68C3927B-55FF-7FAC-08FC-2E29EE67E504}"/>
              </a:ext>
            </a:extLst>
          </p:cNvPr>
          <p:cNvSpPr/>
          <p:nvPr/>
        </p:nvSpPr>
        <p:spPr>
          <a:xfrm>
            <a:off x="5116188" y="4044350"/>
            <a:ext cx="326537" cy="3764310"/>
          </a:xfrm>
          <a:custGeom>
            <a:avLst/>
            <a:gdLst/>
            <a:ahLst/>
            <a:cxnLst/>
            <a:rect l="l" t="t" r="r" b="b"/>
            <a:pathLst>
              <a:path w="16498" h="136351" extrusionOk="0">
                <a:moveTo>
                  <a:pt x="16498" y="0"/>
                </a:moveTo>
                <a:lnTo>
                  <a:pt x="0" y="0"/>
                </a:lnTo>
                <a:lnTo>
                  <a:pt x="0" y="136351"/>
                </a:lnTo>
                <a:lnTo>
                  <a:pt x="16498" y="136351"/>
                </a:lnTo>
              </a:path>
            </a:pathLst>
          </a:custGeom>
          <a:noFill/>
          <a:ln w="38100" cap="flat" cmpd="sng">
            <a:solidFill>
              <a:srgbClr val="FFFFFF"/>
            </a:solidFill>
            <a:prstDash val="solid"/>
            <a:round/>
            <a:headEnd type="diamond" w="med" len="med"/>
            <a:tailEnd type="diamond" w="med" len="med"/>
          </a:ln>
        </p:spPr>
        <p:txBody>
          <a:bodyPr/>
          <a:lstStyle/>
          <a:p>
            <a:endParaRPr lang="es-419"/>
          </a:p>
        </p:txBody>
      </p:sp>
      <p:sp>
        <p:nvSpPr>
          <p:cNvPr id="28" name="Google Shape;28;p7">
            <a:extLst>
              <a:ext uri="{FF2B5EF4-FFF2-40B4-BE49-F238E27FC236}">
                <a16:creationId xmlns:a16="http://schemas.microsoft.com/office/drawing/2014/main" id="{0B2C21D6-724C-AE31-2DDE-2786E665FD37}"/>
              </a:ext>
            </a:extLst>
          </p:cNvPr>
          <p:cNvSpPr/>
          <p:nvPr/>
        </p:nvSpPr>
        <p:spPr>
          <a:xfrm rot="10800000">
            <a:off x="12845276" y="3972965"/>
            <a:ext cx="326537" cy="3764310"/>
          </a:xfrm>
          <a:custGeom>
            <a:avLst/>
            <a:gdLst/>
            <a:ahLst/>
            <a:cxnLst/>
            <a:rect l="l" t="t" r="r" b="b"/>
            <a:pathLst>
              <a:path w="16498" h="136351" extrusionOk="0">
                <a:moveTo>
                  <a:pt x="16498" y="0"/>
                </a:moveTo>
                <a:lnTo>
                  <a:pt x="0" y="0"/>
                </a:lnTo>
                <a:lnTo>
                  <a:pt x="0" y="136351"/>
                </a:lnTo>
                <a:lnTo>
                  <a:pt x="16498" y="136351"/>
                </a:lnTo>
              </a:path>
            </a:pathLst>
          </a:custGeom>
          <a:noFill/>
          <a:ln w="38100" cap="flat" cmpd="sng">
            <a:solidFill>
              <a:srgbClr val="FFFFFF"/>
            </a:solidFill>
            <a:prstDash val="solid"/>
            <a:round/>
            <a:headEnd type="diamond" w="med" len="med"/>
            <a:tailEnd type="diamond" w="med" len="med"/>
          </a:ln>
        </p:spPr>
        <p:txBody>
          <a:bodyPr/>
          <a:lstStyle/>
          <a:p>
            <a:endParaRPr lang="es-419"/>
          </a:p>
        </p:txBody>
      </p:sp>
    </p:spTree>
    <p:extLst>
      <p:ext uri="{BB962C8B-B14F-4D97-AF65-F5344CB8AC3E}">
        <p14:creationId xmlns:p14="http://schemas.microsoft.com/office/powerpoint/2010/main" val="3295014355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Hoy he aprendido (@hh_aprendido ...">
            <a:extLst>
              <a:ext uri="{FF2B5EF4-FFF2-40B4-BE49-F238E27FC236}">
                <a16:creationId xmlns:a16="http://schemas.microsoft.com/office/drawing/2014/main" id="{9B694B43-9CA1-1AED-13B4-B01782A3C525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12789"/>
          <a:stretch>
            <a:fillRect/>
          </a:stretch>
        </p:blipFill>
        <p:spPr bwMode="auto">
          <a:xfrm>
            <a:off x="4568662" y="952723"/>
            <a:ext cx="9245456" cy="806309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626716414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68979" y="1350276"/>
            <a:ext cx="14963686" cy="8346931"/>
          </a:xfrm>
          <a:prstGeom prst="rect">
            <a:avLst/>
          </a:prstGeom>
        </p:spPr>
      </p:pic>
      <p:sp>
        <p:nvSpPr>
          <p:cNvPr id="3" name="Google Shape;334;p18">
            <a:extLst>
              <a:ext uri="{FF2B5EF4-FFF2-40B4-BE49-F238E27FC236}">
                <a16:creationId xmlns:a16="http://schemas.microsoft.com/office/drawing/2014/main" id="{E0C64AE2-FDEA-92A1-A6AF-AC84376773BE}"/>
              </a:ext>
            </a:extLst>
          </p:cNvPr>
          <p:cNvSpPr txBox="1"/>
          <p:nvPr/>
        </p:nvSpPr>
        <p:spPr>
          <a:xfrm>
            <a:off x="1466851" y="631991"/>
            <a:ext cx="15354300" cy="456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600"/>
              <a:buFont typeface="Arial"/>
              <a:buNone/>
            </a:pPr>
            <a:r>
              <a:rPr lang="es-419" sz="5000" dirty="0">
                <a:latin typeface="Roboto Slab Black"/>
                <a:ea typeface="Roboto Slab Black"/>
                <a:cs typeface="Roboto Slab Black"/>
                <a:sym typeface="Roboto Slab Black"/>
              </a:rPr>
              <a:t>Conclusiones:</a:t>
            </a:r>
            <a:endParaRPr sz="5000" u="none" strike="noStrike" cap="none" dirty="0">
              <a:latin typeface="Roboto Slab Black"/>
              <a:ea typeface="Roboto Slab Black"/>
              <a:cs typeface="Roboto Slab Black"/>
              <a:sym typeface="Roboto Slab Black"/>
            </a:endParaRP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4" name="Google Shape;334;p18"/>
          <p:cNvSpPr txBox="1"/>
          <p:nvPr/>
        </p:nvSpPr>
        <p:spPr>
          <a:xfrm>
            <a:off x="1466851" y="631991"/>
            <a:ext cx="15354300" cy="456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600"/>
              <a:buFont typeface="Arial"/>
              <a:buNone/>
            </a:pPr>
            <a:r>
              <a:rPr lang="es-419" sz="5000" dirty="0">
                <a:latin typeface="Roboto Slab Black"/>
                <a:ea typeface="Roboto Slab Black"/>
                <a:cs typeface="Roboto Slab Black"/>
                <a:sym typeface="Roboto Slab Black"/>
              </a:rPr>
              <a:t>Conclusiones:</a:t>
            </a:r>
            <a:endParaRPr sz="5000" u="none" strike="noStrike" cap="none" dirty="0">
              <a:latin typeface="Roboto Slab Black"/>
              <a:ea typeface="Roboto Slab Black"/>
              <a:cs typeface="Roboto Slab Black"/>
              <a:sym typeface="Roboto Slab Black"/>
            </a:endParaRPr>
          </a:p>
        </p:txBody>
      </p:sp>
      <p:pic>
        <p:nvPicPr>
          <p:cNvPr id="2" name="Picture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619610" y="1401630"/>
            <a:ext cx="14398488" cy="8031657"/>
          </a:xfrm>
          <a:prstGeom prst="rect">
            <a:avLst/>
          </a:prstGeom>
        </p:spPr>
      </p:pic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1564FB48-7F7E-8CBD-C888-67A6E9B6FAD1}"/>
              </a:ext>
            </a:extLst>
          </p:cNvPr>
          <p:cNvSpPr txBox="1"/>
          <p:nvPr/>
        </p:nvSpPr>
        <p:spPr>
          <a:xfrm>
            <a:off x="1589517" y="2279635"/>
            <a:ext cx="13733092" cy="224676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57200" indent="-457200">
              <a:buFont typeface="Arial" panose="020B0604020202020204" pitchFamily="34" charset="0"/>
              <a:buChar char="•"/>
            </a:pPr>
            <a:r>
              <a:rPr lang="es-419" sz="2800" dirty="0"/>
              <a:t> </a:t>
            </a:r>
            <a:r>
              <a:rPr lang="es-419" sz="2800" dirty="0" err="1"/>
              <a:t>Ambler</a:t>
            </a:r>
            <a:r>
              <a:rPr lang="es-419" sz="2800" dirty="0"/>
              <a:t>, S. W., &amp; </a:t>
            </a:r>
            <a:r>
              <a:rPr lang="es-419" sz="2800" dirty="0" err="1"/>
              <a:t>Lines</a:t>
            </a:r>
            <a:r>
              <a:rPr lang="es-419" sz="2800" dirty="0"/>
              <a:t>, M. (2023). ¡Elija su WoW! Un enfoque de </a:t>
            </a:r>
            <a:r>
              <a:rPr lang="es-419" sz="2800" dirty="0" err="1"/>
              <a:t>Disciplined</a:t>
            </a:r>
            <a:r>
              <a:rPr lang="es-419" sz="2800" dirty="0"/>
              <a:t> Agile para optimizar su forma de trabajar (2.ª ed.). Project Management </a:t>
            </a:r>
            <a:r>
              <a:rPr lang="es-419" sz="2800" dirty="0" err="1"/>
              <a:t>Institute</a:t>
            </a:r>
            <a:r>
              <a:rPr lang="es-419" sz="2800" dirty="0"/>
              <a:t>, Inc.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 dirty="0"/>
              <a:t>Project Management Institute. (2025). The standard for project management and a guide to the project management body of knowledge (PMBOK guide) (8th ed.)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endParaRPr lang="es-419" sz="2800" dirty="0"/>
          </a:p>
        </p:txBody>
      </p:sp>
      <p:sp>
        <p:nvSpPr>
          <p:cNvPr id="4" name="Google Shape;427;p15">
            <a:extLst>
              <a:ext uri="{FF2B5EF4-FFF2-40B4-BE49-F238E27FC236}">
                <a16:creationId xmlns:a16="http://schemas.microsoft.com/office/drawing/2014/main" id="{C19A1994-D725-61B2-721F-2946CA601C85}"/>
              </a:ext>
            </a:extLst>
          </p:cNvPr>
          <p:cNvSpPr txBox="1"/>
          <p:nvPr/>
        </p:nvSpPr>
        <p:spPr>
          <a:xfrm>
            <a:off x="1159203" y="1081943"/>
            <a:ext cx="15354300" cy="456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600"/>
              <a:buFont typeface="Arial"/>
              <a:buNone/>
            </a:pPr>
            <a:r>
              <a:rPr lang="es-PE" sz="5000" b="0" i="0" u="none" strike="noStrike" cap="none" dirty="0">
                <a:solidFill>
                  <a:srgbClr val="00B0F0"/>
                </a:solidFill>
                <a:latin typeface="Roboto Slab Black"/>
                <a:ea typeface="Roboto Slab Black"/>
                <a:cs typeface="Roboto Slab Black"/>
                <a:sym typeface="Roboto Slab Black"/>
              </a:rPr>
              <a:t>Bibliografía</a:t>
            </a:r>
            <a:r>
              <a:rPr lang="es-PE" sz="5000" dirty="0">
                <a:solidFill>
                  <a:srgbClr val="00B0F0"/>
                </a:solidFill>
                <a:latin typeface="Roboto Slab Black"/>
                <a:ea typeface="Roboto Slab Black"/>
                <a:cs typeface="Roboto Slab Black"/>
                <a:sym typeface="Roboto Slab Black"/>
              </a:rPr>
              <a:t>:</a:t>
            </a:r>
            <a:endParaRPr sz="5000" b="0" i="0" u="none" strike="noStrike" cap="none" dirty="0">
              <a:solidFill>
                <a:srgbClr val="00B0F0"/>
              </a:solidFill>
              <a:latin typeface="Roboto Slab Black"/>
              <a:ea typeface="Roboto Slab Black"/>
              <a:cs typeface="Roboto Slab Black"/>
              <a:sym typeface="Roboto Slab Black"/>
            </a:endParaRP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CCEFA1D4-528D-80D5-3E73-24147D0B1F3B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18288000" cy="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s-PE" altLang="es-PE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s-PE" altLang="es-PE" sz="1000" b="0" i="0" u="none" strike="noStrike" cap="none" normalizeH="0" baseline="0">
                <a:ln>
                  <a:noFill/>
                </a:ln>
                <a:solidFill>
                  <a:srgbClr val="303030"/>
                </a:solidFill>
                <a:effectLst/>
                <a:latin typeface="Google Sans Text"/>
              </a:rPr>
              <a:t>Dharma Consulting. (2023, 20 de junio). </a:t>
            </a:r>
            <a:r>
              <a:rPr kumimoji="0" lang="es-PE" altLang="es-PE" sz="1000" b="0" i="1" u="none" strike="noStrike" cap="none" normalizeH="0" baseline="0">
                <a:ln>
                  <a:noFill/>
                </a:ln>
                <a:solidFill>
                  <a:srgbClr val="303030"/>
                </a:solidFill>
                <a:effectLst/>
                <a:latin typeface="Google Sans Text"/>
              </a:rPr>
              <a:t>Creando el Acta de Constitución del Equipo: Estableciendo un sólido fundamento para la colaboración en proyectos</a:t>
            </a:r>
            <a:r>
              <a:rPr kumimoji="0" lang="es-PE" altLang="es-PE" sz="1000" b="0" i="0" u="none" strike="noStrike" cap="none" normalizeH="0" baseline="0">
                <a:ln>
                  <a:noFill/>
                </a:ln>
                <a:solidFill>
                  <a:srgbClr val="303030"/>
                </a:solidFill>
                <a:effectLst/>
                <a:latin typeface="Google Sans Text"/>
              </a:rPr>
              <a:t>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s-PE" altLang="es-PE" sz="1000" b="0" i="0" u="none" strike="noStrike" cap="none" normalizeH="0" baseline="0">
                <a:ln>
                  <a:noFill/>
                </a:ln>
                <a:solidFill>
                  <a:srgbClr val="303030"/>
                </a:solidFill>
                <a:effectLst/>
                <a:latin typeface="Google Sans Text"/>
              </a:rPr>
              <a:t>El Equipo Miro. (2025, 10 de octubre). </a:t>
            </a:r>
            <a:r>
              <a:rPr kumimoji="0" lang="es-PE" altLang="es-PE" sz="1000" b="0" i="1" u="none" strike="noStrike" cap="none" normalizeH="0" baseline="0">
                <a:ln>
                  <a:noFill/>
                </a:ln>
                <a:solidFill>
                  <a:srgbClr val="303030"/>
                </a:solidFill>
                <a:effectLst/>
                <a:latin typeface="Google Sans Text"/>
              </a:rPr>
              <a:t>Aprende a hacer un team charter que funcione</a:t>
            </a:r>
            <a:r>
              <a:rPr kumimoji="0" lang="es-PE" altLang="es-PE" sz="1000" b="0" i="0" u="none" strike="noStrike" cap="none" normalizeH="0" baseline="0">
                <a:ln>
                  <a:noFill/>
                </a:ln>
                <a:solidFill>
                  <a:srgbClr val="303030"/>
                </a:solidFill>
                <a:effectLst/>
                <a:latin typeface="Google Sans Text"/>
              </a:rPr>
              <a:t>. Miro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s-PE" altLang="es-PE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18169690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61" name="Google Shape;461;p20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" y="0"/>
            <a:ext cx="18288680" cy="10287000"/>
          </a:xfrm>
          <a:prstGeom prst="rect">
            <a:avLst/>
          </a:prstGeom>
          <a:noFill/>
          <a:ln>
            <a:noFill/>
          </a:ln>
        </p:spPr>
      </p:pic>
      <p:sp>
        <p:nvSpPr>
          <p:cNvPr id="462" name="Google Shape;462;p20"/>
          <p:cNvSpPr txBox="1"/>
          <p:nvPr/>
        </p:nvSpPr>
        <p:spPr>
          <a:xfrm>
            <a:off x="1125336" y="2609345"/>
            <a:ext cx="5773608" cy="16178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37138" tIns="68550" rIns="137138" bIns="68550" anchor="t" anchorCtr="0">
            <a:noAutofit/>
          </a:bodyPr>
          <a:lstStyle/>
          <a:p>
            <a:pPr>
              <a:lnSpc>
                <a:spcPct val="90000"/>
              </a:lnSpc>
              <a:buClr>
                <a:schemeClr val="dk1"/>
              </a:buClr>
              <a:buSzPts val="2200"/>
            </a:pPr>
            <a:r>
              <a:rPr lang="en-US" sz="3300" b="1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“There is nothing impossible to they who will try.”</a:t>
            </a:r>
          </a:p>
          <a:p>
            <a:pPr>
              <a:lnSpc>
                <a:spcPct val="90000"/>
              </a:lnSpc>
              <a:buClr>
                <a:schemeClr val="dk1"/>
              </a:buClr>
              <a:buSzPts val="2200"/>
            </a:pPr>
            <a:r>
              <a:rPr lang="en-US" sz="3300" b="1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— Alexander the Great</a:t>
            </a:r>
            <a:endParaRPr sz="3300" b="1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3" name="Google Shape;463;p20"/>
          <p:cNvSpPr txBox="1"/>
          <p:nvPr/>
        </p:nvSpPr>
        <p:spPr>
          <a:xfrm>
            <a:off x="4012140" y="990600"/>
            <a:ext cx="5773608" cy="167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37138" tIns="68550" rIns="137138" bIns="68550" anchor="t" anchorCtr="0">
            <a:noAutofit/>
          </a:bodyPr>
          <a:lstStyle/>
          <a:p>
            <a:pPr>
              <a:buSzPts val="1800"/>
            </a:pPr>
            <a:endParaRPr sz="27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4" name="Google Shape;464;p20"/>
          <p:cNvSpPr txBox="1"/>
          <p:nvPr/>
        </p:nvSpPr>
        <p:spPr>
          <a:xfrm>
            <a:off x="1125336" y="1075895"/>
            <a:ext cx="5773608" cy="11541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37138" tIns="68550" rIns="137138" bIns="68550" anchor="t" anchorCtr="0">
            <a:noAutofit/>
          </a:bodyPr>
          <a:lstStyle/>
          <a:p>
            <a:pPr>
              <a:buSzPts val="4400"/>
            </a:pPr>
            <a:r>
              <a:rPr lang="en-US" sz="6600" b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Thank you! </a:t>
            </a:r>
            <a:endParaRPr lang="en-US" sz="2100"/>
          </a:p>
        </p:txBody>
      </p:sp>
      <p:pic>
        <p:nvPicPr>
          <p:cNvPr id="465" name="Google Shape;465;p20"/>
          <p:cNvPicPr preferRelativeResize="0"/>
          <p:nvPr/>
        </p:nvPicPr>
        <p:blipFill rotWithShape="1">
          <a:blip r:embed="rId4">
            <a:alphaModFix/>
          </a:blip>
          <a:srcRect t="-1912" r="54024"/>
          <a:stretch/>
        </p:blipFill>
        <p:spPr>
          <a:xfrm>
            <a:off x="261999" y="7821195"/>
            <a:ext cx="2913555" cy="161782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54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name="Tema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6563</TotalTime>
  <Words>292</Words>
  <Application>Microsoft Office PowerPoint</Application>
  <PresentationFormat>Personalizado</PresentationFormat>
  <Paragraphs>23</Paragraphs>
  <Slides>31</Slides>
  <Notes>9</Notes>
  <HiddenSlides>0</HiddenSlides>
  <MMClips>0</MMClips>
  <ScaleCrop>false</ScaleCrop>
  <HeadingPairs>
    <vt:vector size="6" baseType="variant">
      <vt:variant>
        <vt:lpstr>Fuentes usadas</vt:lpstr>
      </vt:variant>
      <vt:variant>
        <vt:i4>5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31</vt:i4>
      </vt:variant>
    </vt:vector>
  </HeadingPairs>
  <TitlesOfParts>
    <vt:vector size="37" baseType="lpstr">
      <vt:lpstr>Roboto Slab Black</vt:lpstr>
      <vt:lpstr>Google Sans Text</vt:lpstr>
      <vt:lpstr>Arial</vt:lpstr>
      <vt:lpstr>Calibri</vt:lpstr>
      <vt:lpstr>Roboto Slab</vt:lpstr>
      <vt:lpstr>Tema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Docente - Daniel Enrique Pantoja Diaz</cp:lastModifiedBy>
  <cp:revision>8</cp:revision>
  <dcterms:modified xsi:type="dcterms:W3CDTF">2026-08-21T02:18:26Z</dcterms:modified>
</cp:coreProperties>
</file>